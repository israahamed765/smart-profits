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1488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D1C5"/>
                </a:solidFill>
                <a:latin typeface="Calibri"/>
              </a:rPr>
              <a:t>GSMA MENA IGNITE OPEN GATEWAY HACKATHON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871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8FAFC"/>
                </a:solidFill>
                <a:latin typeface="Calibri"/>
              </a:rPr>
              <a:t>Smart Profits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46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E8C56B"/>
                </a:solidFill>
                <a:latin typeface="Calibri"/>
              </a:rPr>
              <a:t>AI-Driven Financial Analytics &amp; Telco-Secured Merchant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40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Calibri"/>
              </a:rPr>
              <a:t>Theme 4: Secure FinTech, Payments &amp; Anti-Fraud Innovation
The merchant’s CFO in the chat. Bank-grade SIM-swap defence on the login.
CAMARA APIs via Nokia Network-as-Code. Decisions by an AI Agent — not by SMS.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92040"/>
            <a:ext cx="2139696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928616"/>
            <a:ext cx="2139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SIM Swap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4892040"/>
            <a:ext cx="2139696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624" y="4928616"/>
            <a:ext cx="2139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Number Verification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4892040"/>
            <a:ext cx="2139696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6048" y="4928616"/>
            <a:ext cx="2139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Location Verification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5472" y="4892040"/>
            <a:ext cx="2139696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4928616"/>
            <a:ext cx="2139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Device Swap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6" y="4892040"/>
            <a:ext cx="2139696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54896" y="4928616"/>
            <a:ext cx="2139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Smart Guard AI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32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C56B"/>
                </a:solidFill>
                <a:latin typeface="Calibri"/>
              </a:rPr>
              <a:t>Israa Nael Hamad  ·  University of Palestine, Gaza  ·  Bitsandbytesdude Software Agency  ·  MENA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One slide for the jury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What we built, why it wins Theme 4, and how both mandatory requirements are met.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2821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39112"/>
            <a:ext cx="324612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MENA merchants run the business from Excel. Phantom profit hides real cash flow. A SIM swap defeats SMS OTP — then the attacker owns the P&amp;L files, prices, and exports.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0020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2821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Our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039112"/>
            <a:ext cx="324612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Smart Profits = Financial AI + Smart Guard AI Agent. Analytics on messy Arabic/English ledgers, protected by GSMA CAMARA signals from Nokia Network-as-Code.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0020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172821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Why we 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039112"/>
            <a:ext cx="324612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Real product (Next.js + PostgreSQL). Real agent policy (Allow / Step-up / Freeze). Live Nokia RapidAPI logs in prototype. Built for MENA (RTL Arabic + English).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60520"/>
            <a:ext cx="11247120" cy="17830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Mandatory requirements — explicit declaration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1772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Requirement A — GSMA CAMARA APIs via Nokia Network-as-Code: SIM Swap, Number Verification, Location Verification, Device Swap on every sensitive merchant action.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Requirement B — AI Agent orchestration: Smart Guard calls network tools, fuses risk with financial context, and executes Allow / Step-up / Freeze — not a chatbot caption.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1.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P&amp;L lives in Excel. So does the fraud.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3657600" cy="29260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Financial blindness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3291840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Independent MENA merchants use messy Arabic/English Excel, CSV, PDF and photos. Rent, salaries and utilities are missing. Phantom profit looks healthy. There is no CFO.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25880"/>
            <a:ext cx="3657600" cy="29260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453896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Profit leakage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764792"/>
            <a:ext cx="3291840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Weak SKUs, unexamined margins and unplanned OpEx hide real net profit. A ‘good month’ in the sales sheet can still be cash-negative.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25880"/>
            <a:ext cx="3657600" cy="29260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53896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Account takeover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764792"/>
            <a:ext cx="3291840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SIM swap beats SMS OTP. Attacker opens advisor, downloads P&amp;L, changes prices, exfiltrates sales files. Upload from another country = hijacked session.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34840"/>
            <a:ext cx="11247120" cy="16002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10789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Theme 4 gap: Banks already buy Open Gateway APIs. The SaaS that holds the merchant’s books usually does not.
Smart Profits closes that gap — financial intelligence and telco-grade identity on the same login.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2. MARKET &amp;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MENA, why 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Excel-first 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WhatsApp + spreadsheet workflows dominate SME retail. Arabic/English mixed headers are the norm, not the exception.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SIM-swap fraud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176479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OTP hijacking is a documented FinTech risk. Network verification beats SMS that can be intercepted after a swap.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69417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Open Gateway moment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00507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GSMA CAMARA standardises operator APIs. Nokia Network-as-Code gives developers one path — Smart Profits is a reference FinTech consumer.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56616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69417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Operator B2B2X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400507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Every secured login, upload and export is a billable CAMARA event — SaaS revenue for us, API usage for operators.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3. SOLUTION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One platform. Two brains. Network-secured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Financial AI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51663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Cleans messy Excel/CSV/PDF. Diagnoses store health, profit leaks, inventory, 30-day plan. File-grounded Q&amp;A in Arabic or English. OpEx-aware net profit — not phantom revenue.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Smart Guard AI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764792"/>
            <a:ext cx="51663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Orchestrates Nokia NaC CAMARA calls on login, reset, upload, export, price change. Outputs Allow · Step-up · Freeze. Explains decisions to the merchant in AR/EN.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11247120" cy="26060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Sensitive actions protected by Smart Guard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D1C5"/>
                </a:solidFill>
                <a:latin typeface="Calibri"/>
              </a:rPr>
              <a:t>Register  ·  Login  ·  Password reset  ·  Excel/CSV/PDF upload  ·  P&amp;L export  ·  Price / settings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4340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Positioning: Not a generic Excel AI. A FinTech control plane for SMEs — using 4G/5G CAMARA signals the way banks do, on the merchant’s own books.
No sensitive action completes unless Smart Guard runs the network + policy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4. MANDATORY HACKATHON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Both compulsory building blocks — implemented, not slideware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20"/>
          <a:ext cx="1124712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754880"/>
                <a:gridCol w="3931920"/>
              </a:tblGrid>
              <a:tr h="6515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Implementation in Smart Profits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A — CAMARA via Nokia NaC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SIM Swap, Number Verification, Location Verification, Device Swap via RapidAPI passthrough paths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Live logs: [nac-live] provider=Nokia transport=RapidAPI status=200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B — AI Agent orchestration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Smart Guard Agent: tool-calling loop → policy.ts → Allow / Step-up / Freeze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Server-side enforce.ts blocks API until decision=allow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Theme 4 — FinTech anti-fraud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Freeze on swap; step-up on NV/location gaps; block upload outside store geofence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Demo MSISDNs + working UI overlay + admin guard status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251960"/>
            <a:ext cx="11247120" cy="17830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389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C56B"/>
                </a:solidFill>
                <a:latin typeface="Calibri"/>
              </a:rPr>
              <a:t>Declaration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This solution uses GSMA CAMARA network APIs through Nokia Network-as-Code AND uses an AI Agent to orchestrate those APIs and take security decisions. Both mandatory requirements are satisfied in the live decision path — not as optional plugins.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5. NOKIA CAMARA APIS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What we call, when, and what the agent does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754880"/>
                <a:gridCol w="393192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CAMARA API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Trigger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Agent decision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SIM Swap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Login, register, reset, sensitive settings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Recent swap → FREEZE session. SMS OTP is untrusted.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Number Verification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Login, step-up identity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Silent 4G/5G check — confirm live network number, not spoofed SMS.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Location Verification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Financial file upload, P&amp;L export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Must match store geofence — else STEP-UP or block upload.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FD1C5"/>
                          </a:solidFill>
                          <a:latin typeface="Calibri"/>
                        </a:rPr>
                        <a:t>Device Swap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Same sensitive actions as SIM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Calibri"/>
                        </a:rPr>
                        <a:t>Recent device change → FREEZE (complements SIM signal).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Prototype: Nokia NaC developer simulators + live RapidAPI (NAC_API_KEY).
Official test MSISDNs: +99999991001 clean · +99999991000 swap/freeze · +99999991002 location step-up · +99999991003 location unknown.
Policy engine (policy.ts) is unchanged — Nokia results map through nac-live-mapper; no hardcoded fake success on provider failure.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6. SMART GUARD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Sense → Query → Decide → 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D1C5"/>
                </a:solidFill>
                <a:latin typeface="Calibri"/>
              </a:rPr>
              <a:t>1 · Sense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237744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Merchant action: login, register, upload, export, price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45389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D1C5"/>
                </a:solidFill>
                <a:latin typeface="Calibri"/>
              </a:rPr>
              <a:t>2 ·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1764792"/>
            <a:ext cx="237744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Parallel CAMARA calls via Nokia NaC: SIM Swap, Device Swap, NV, Location.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45389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D1C5"/>
                </a:solidFill>
                <a:latin typeface="Calibri"/>
              </a:rPr>
              <a:t>3 ·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1764792"/>
            <a:ext cx="237744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Fuse network risk + file sensitivity + account age. Output: Allow · Step-up · Freeze.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36608" y="145389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D1C5"/>
                </a:solidFill>
                <a:latin typeface="Calibri"/>
              </a:rPr>
              <a:t>4 · 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8" y="1764792"/>
            <a:ext cx="237744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Enforce on server (403/503). UI overlay for step-up network code. Explain in AR/EN.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393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ALLOW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0507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Signals consistent. Continue analytics / upload.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5204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6393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Calibri"/>
              </a:rPr>
              <a:t>STEP-UP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00507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NV unavailable or soft location mismatch. Network code — not SMS.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5204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6393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7171"/>
                </a:solidFill>
                <a:latin typeface="Calibri"/>
              </a:rPr>
              <a:t>FREEZE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00507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SIM/device swap or hard location mismatch. Block sensitive actions.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166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Example freeze: upload monthly_sales.xlsx → SIM Swap recent OR location ≠ store → FREEZE → file not stored → recover via Number Verification on trusted line.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7. TECHNICAL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Production-ready stack — not a hackathon script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35607"/>
            <a:ext cx="10927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Merchant UI  ·  Next.js / TypeScript  ·  Arabic RTL + English  ·  Dashboard · Advisor · Upload · Admin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2316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560320"/>
            <a:ext cx="5166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Smart Guard AI Agent
server/smart-guard/  ·  enforce.ts fail-closed
Allow / Step-up / 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42316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560320"/>
            <a:ext cx="5166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Financial engine
Excel/CSV/PDF parse · P&amp;L · leaks · Q&amp;A on open 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9476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931920"/>
            <a:ext cx="3246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PostgreSQL
Users · files · guard_decisions 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794760"/>
            <a:ext cx="3657600" cy="10972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1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nokia-adapter.ts
Live RapidAPI + structured [nac-live] audit logs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794760"/>
            <a:ext cx="3611880" cy="10972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393192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Nokia Network-as-Code
CAMARA passthrough 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FD1C5"/>
                </a:solidFill>
                <a:latin typeface="Calibri"/>
              </a:rPr>
              <a:t>Security: NAC_API_KEY server-only · CSRF same-origin · scrypt passwords · guard logs with IP/UA · admin Smart Guard status dashboard.
Repository: https://github.com/BITSANDBYTESDUDE/Smart-Profits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8. LIVE PROTOTYPE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What judges can verify in code and logs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Live Nokia RapidAPI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5166360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[nac-live] nacMode=live provider=Nokia transport=RapidAPI api=sim-swap status=200
[nac-live] api=device-swap status=200
[nac-live] api=number-verification status=401 → step-up (not fake success)
Provider failures ≠ business rejection — distinct error messages in enforce.ts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Automated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764792"/>
            <a:ext cx="5166360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tests/nac-provider.test.ts — live mapper, auth/404 handling
tests/smart-guard-policy.test.ts — Allow/Step-up/Freeze policy
tests/backend-guard.test.ts — server enforcement fail-closed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11247120" cy="2148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785616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Demo numbers (Nokia official sandbox MSISDNs)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096512"/>
            <a:ext cx="10881360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+99999991001 → clean path (register + analytics)
+99999991000 → SIM/device swap → account FREEZE
+99999991002 → location PARTIAL → step-up on file upload
+99999991003 → location UNKNOWN (live API only)
Step-up code: network challenge (6 digits) — shown in dev demo inbox; not spoofable SMS.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9. DEMO WALKTHROUGH (3 MINUTES)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Three journeys judges should 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11247120" cy="98755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C56B"/>
                </a:solidFill>
                <a:latin typeface="Calibri"/>
              </a:rPr>
              <a:t>Journey A — Trusted merchant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+99999991001 · new email · upload messy Excel · advisor: highest profit SKU · phantom vs real net profit · ALLOW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14016"/>
            <a:ext cx="11247120" cy="98755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0545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C56B"/>
                </a:solidFill>
                <a:latin typeface="Calibri"/>
              </a:rPr>
              <a:t>Journey B — SIM swap attack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2549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+99999991000 · login or register · Smart Guard FREEZE · upload/export disabled · Arabic/EN explanation · SMS untrusted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29584"/>
            <a:ext cx="11247120" cy="98755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C56B"/>
                </a:solidFill>
                <a:latin typeface="Calibri"/>
              </a:rPr>
              <a:t>Journey C — Location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4106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+99999991002 · upload financial file · Location Verification PARTIAL · STEP-UP network code · file blocked until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09160"/>
            <a:ext cx="11155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FD1C5"/>
                </a:solidFill>
                <a:latin typeface="Calibri"/>
              </a:rPr>
              <a:t>Links for judges:
GitHub: https://github.com/BITSANDBYTESDUDE/Smart-Profits
Studio: https://bitsandbytesdude.vercel.app/
Live demo URL: [deploy before submission — Railway/Vercel + NAC_API_KEY + PostgreSQL]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10. PRODUCT SCREENSHOTS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Working merchant SaaS — bilingual, dark/light, file-grounded AI</a:t>
            </a:r>
          </a:p>
        </p:txBody>
      </p:sp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61872"/>
            <a:ext cx="3703320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255264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FD1C5"/>
                </a:solidFill>
                <a:latin typeface="Calibri"/>
              </a:rPr>
              <a:t>Dashboard — health &amp; P&amp;L</a:t>
            </a:r>
          </a:p>
        </p:txBody>
      </p:sp>
      <p:pic>
        <p:nvPicPr>
          <p:cNvPr id="9" name="Picture 8" descr="03-advi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61872"/>
            <a:ext cx="3703320" cy="1965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0" y="3255264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FD1C5"/>
                </a:solidFill>
                <a:latin typeface="Calibri"/>
              </a:rPr>
              <a:t>Advisor — file-grounded Q&amp;A</a:t>
            </a:r>
          </a:p>
        </p:txBody>
      </p:sp>
      <p:pic>
        <p:nvPicPr>
          <p:cNvPr id="11" name="Picture 10" descr="04-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1261872"/>
            <a:ext cx="370332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3880" y="3255264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FD1C5"/>
                </a:solidFill>
                <a:latin typeface="Calibri"/>
              </a:rPr>
              <a:t>Files — messy Excel cleaned</a:t>
            </a:r>
          </a:p>
        </p:txBody>
      </p:sp>
      <p:pic>
        <p:nvPicPr>
          <p:cNvPr id="13" name="Picture 12" descr="05-simula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685032"/>
            <a:ext cx="3703320" cy="1965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1480" y="5678424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FD1C5"/>
                </a:solidFill>
                <a:latin typeface="Calibri"/>
              </a:rPr>
              <a:t>What-if simulator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11. 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Smart Profits is not another Excel chatbot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217920"/>
              </a:tblGrid>
              <a:tr h="6335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D1C5"/>
                          </a:solidFill>
                          <a:latin typeface="Calibri"/>
                        </a:rPr>
                        <a:t>Typical Excel AI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D1C5"/>
                          </a:solidFill>
                          <a:latin typeface="Calibri"/>
                        </a:rPr>
                        <a:t>Smart Profits</a:t>
                      </a:r>
                    </a:p>
                  </a:txBody>
                  <a:tcPr>
                    <a:solidFill>
                      <a:srgbClr val="0B1120"/>
                    </a:solidFill>
                  </a:tcPr>
                </a:tc>
              </a:tr>
              <a:tr h="6335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Calibri"/>
                        </a:rPr>
                        <a:t>Reads a spreadsheet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C56B"/>
                          </a:solidFill>
                          <a:latin typeface="Calibri"/>
                        </a:rPr>
                        <a:t>Reads + diagnoses + bilingual Q&amp;A on the open file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</a:tr>
              <a:tr h="6335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Calibri"/>
                        </a:rPr>
                        <a:t>Trusts SMS OTP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C56B"/>
                          </a:solidFill>
                          <a:latin typeface="Calibri"/>
                        </a:rPr>
                        <a:t>SIM Swap + Number Verification via the network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6335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Calibri"/>
                        </a:rPr>
                        <a:t>No location concept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C56B"/>
                          </a:solidFill>
                          <a:latin typeface="Calibri"/>
                        </a:rPr>
                        <a:t>Location Verification binds uploads to the store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</a:tr>
              <a:tr h="6335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Calibri"/>
                        </a:rPr>
                        <a:t>Chatbot only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C56B"/>
                          </a:solidFill>
                          <a:latin typeface="Calibri"/>
                        </a:rPr>
                        <a:t>AI Agent calls CAMARA tools and enforces freeze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6335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Calibri"/>
                        </a:rPr>
                        <a:t>Generic SaaS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C56B"/>
                          </a:solidFill>
                          <a:latin typeface="Calibri"/>
                        </a:rPr>
                        <a:t>Built for MENA merchants (Arabic RTL, messy AR/EN ledgers)</a:t>
                      </a:r>
                    </a:p>
                  </a:txBody>
                  <a:tcPr>
                    <a:solidFill>
                      <a:srgbClr val="162136"/>
                    </a:solidFill>
                  </a:tcPr>
                </a:tc>
              </a:tr>
              <a:tr h="6335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Calibri"/>
                        </a:rPr>
                        <a:t>Slide-only Open Gateway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C56B"/>
                          </a:solidFill>
                          <a:latin typeface="Calibri"/>
                        </a:rPr>
                        <a:t>Live Nokia NaC integration with audit logs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12. 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SaaS revenue + Open Gateway COGS + operator B2B2X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Free trial · 7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324612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Full product — upload, diagnosis, advisor, Smart Guard demo. Converts to Pro.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258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45389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Pro · $49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764792"/>
            <a:ext cx="324612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Single store — P&amp;L, leaks, Q&amp;A, telco-secured login/upload/export.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258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8" y="145389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Business · $99 / month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1764792"/>
            <a:ext cx="324612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Multi-branch — tighter geofences, team seats, priority guard review.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11247120" cy="2148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Monetization logic for GSMA / Nokia / operators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43400"/>
            <a:ext cx="10789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Merchant subscription = primary revenue (SME FinTech SaaS).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CAMARA API calls = security COGS — every login, upload and export consumes operator value.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Future B2B2X: white-label Smart Guard for banks, wallets and marketplaces via Open Gateway.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Incubated at Bitsandbytesdude — shipping product line, not a one-hack demo.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13. IMPACT &amp; WHY GSMA SHOULD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Real API consumer · Real regional problem · Real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For operators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B2B FinTech that consumes Open Gateway APIs at scale — login, upload, export — not slide-only integration.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4538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For merchants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176479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CFO-grade insight AND bank-like protection of the files that ARE the business.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69417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For the region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00507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High WhatsApp/Excel commerce, high SIM-swap fraud, low formal accounting — exact Theme 4 conditions.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566160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69417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For 5G/4G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4005072"/>
            <a:ext cx="51663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Number Verification works because the phone is on the operator network — not because we sent another SMS.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C56B"/>
                </a:solidFill>
                <a:latin typeface="Calibri"/>
              </a:rPr>
              <a:t>Target outcome: Top 3 → showcase at MWC Doha 2026 (8–10 Nov) · prizes up to $10,000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14.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From hackathon prototype to MENA commercial product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11247120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D1C5"/>
                </a:solidFill>
                <a:latin typeface="Calibri"/>
              </a:rPr>
              <a:t>Now —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408176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Live NaC · demo video · deploy public URL · pitch + GitHub README for judges.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11247120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D1C5"/>
                </a:solidFill>
                <a:latin typeface="Calibri"/>
              </a:rPr>
              <a:t>Q4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87168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NV OAuth on live operators · operator pilot · admin guard analytics · Pro billing.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56432"/>
            <a:ext cx="11247120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478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D1C5"/>
                </a:solidFill>
                <a:latin typeface="Calibri"/>
              </a:rPr>
              <a:t>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566160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Multi-branch geofences · B2B2X with MENA telco · marketplace integrations.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35424"/>
            <a:ext cx="11247120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62686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D1C5"/>
                </a:solidFill>
                <a:latin typeface="Calibri"/>
              </a:rPr>
              <a:t>MWC Doha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645152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Live freeze demo on stage · executive pitch · operator meetings.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"/>
            <a:ext cx="12191695" cy="13716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D1C5"/>
                </a:solidFill>
                <a:latin typeface="Calibri"/>
              </a:rPr>
              <a:t>15.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Gaza product inside a shipping software studio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5532120" cy="356616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26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Israa Nael Hamad — Founder / Product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5166360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University of Palestine, Gaza · Software Engineering (final year).
Product vision, merchant UX, bilingual FinTech experience, Theme 4 narrative: phantom Excel profit vs SIM-swap takeover of the same files.
Email: tsraathmd@gmail.com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98448"/>
            <a:ext cx="5532120" cy="356616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426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C56B"/>
                </a:solidFill>
                <a:latin typeface="Calibri"/>
              </a:rPr>
              <a:t>Mir Kashif — Principal / Technical Co-Founder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737360"/>
            <a:ext cx="5166360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Bitsandbytesdude Software Agency.
Full-stack platforms, AI agent workflows, cloud delivery. Next.js architecture, Nokia NaC integration, Smart Guard enforcement.
Studio: bitsandbytesdude@gmail.com · https://bitsandbytesdude.vercel.app/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2920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1663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Bitsandbytesdude — high-performance software, AI automation and product systems.
Remote-first · MENA-rooted · Smart Profits is a core product line, not a side project.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91695" cy="18288"/>
          </a:xfrm>
          <a:prstGeom prst="rect">
            <a:avLst/>
          </a:prstGeom>
          <a:solidFill>
            <a:srgbClr val="E8C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D1C5"/>
                </a:solidFill>
                <a:latin typeface="Calibri"/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8FAFC"/>
                </a:solidFill>
                <a:latin typeface="Calibri"/>
              </a:rPr>
              <a:t>Advance Smart Profits under Theme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A real merchant SaaS — not slideware.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A real AI Agent — Allow / Step-up / Freeze on every sensitive action.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Real CAMARA APIs through Nokia Network-as-Code — with live logs judges can verify.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Built for MENA — Arabic RTL, English, messy ledgers, SIM-swap-aware FinTech.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2702052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08576"/>
            <a:ext cx="2702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✓ CAMARA via Nokia NaC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8980" y="4572000"/>
            <a:ext cx="2702052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8980" y="4608576"/>
            <a:ext cx="2702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✓ AI Agent orchestration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572000"/>
            <a:ext cx="2702052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4608576"/>
            <a:ext cx="2702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✓ Theme 4 FinTech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92540" y="4572000"/>
            <a:ext cx="2702052" cy="384048"/>
          </a:xfrm>
          <a:prstGeom prst="roundRect">
            <a:avLst>
              <a:gd name="adj" fmla="val 8000"/>
            </a:avLst>
          </a:prstGeom>
          <a:solidFill>
            <a:srgbClr val="1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2540" y="4608576"/>
            <a:ext cx="2702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FD1C5"/>
                </a:solidFill>
                <a:latin typeface="Calibri"/>
              </a:rPr>
              <a:t>✓ Live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2578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C56B"/>
                </a:solidFill>
                <a:latin typeface="Calibri"/>
              </a:rPr>
              <a:t>Thank you  ·  Questions?
Israa Nael Hamad  ·  Mir Kashif  ·  Bitsandbytesdude  ·  University of Palestine, Gaza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Smart Profits  ·  GSMA MENA Ignite  ·  Theme 4  ·  Nokia Network-as-Code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