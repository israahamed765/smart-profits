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725" y="3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73152"/>
            <a:ext cx="12191695" cy="18288"/>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mark.png"/>
          <p:cNvPicPr>
            <a:picLocks noChangeAspect="1"/>
          </p:cNvPicPr>
          <p:nvPr/>
        </p:nvPicPr>
        <p:blipFill>
          <a:blip r:embed="rId2"/>
          <a:stretch>
            <a:fillRect/>
          </a:stretch>
        </p:blipFill>
        <p:spPr>
          <a:xfrm>
            <a:off x="502920" y="1051560"/>
            <a:ext cx="1005840" cy="1005840"/>
          </a:xfrm>
          <a:prstGeom prst="rect">
            <a:avLst/>
          </a:prstGeom>
        </p:spPr>
      </p:pic>
      <p:sp>
        <p:nvSpPr>
          <p:cNvPr id="6" name="TextBox 5"/>
          <p:cNvSpPr txBox="1"/>
          <p:nvPr/>
        </p:nvSpPr>
        <p:spPr>
          <a:xfrm>
            <a:off x="502920" y="2148840"/>
            <a:ext cx="10972800" cy="292608"/>
          </a:xfrm>
          <a:prstGeom prst="rect">
            <a:avLst/>
          </a:prstGeom>
          <a:noFill/>
        </p:spPr>
        <p:txBody>
          <a:bodyPr wrap="square">
            <a:spAutoFit/>
          </a:bodyPr>
          <a:lstStyle/>
          <a:p>
            <a:pPr algn="l"/>
            <a:r>
              <a:rPr sz="1200" b="1">
                <a:solidFill>
                  <a:srgbClr val="4FD1C5"/>
                </a:solidFill>
                <a:latin typeface="Calibri"/>
              </a:rPr>
              <a:t>GSMA MENA IGNITE OPEN GATEWAY HACKATHON  ·  2026</a:t>
            </a:r>
          </a:p>
        </p:txBody>
      </p:sp>
      <p:sp>
        <p:nvSpPr>
          <p:cNvPr id="7" name="TextBox 6"/>
          <p:cNvSpPr txBox="1"/>
          <p:nvPr/>
        </p:nvSpPr>
        <p:spPr>
          <a:xfrm>
            <a:off x="502920" y="2487168"/>
            <a:ext cx="11155680" cy="777240"/>
          </a:xfrm>
          <a:prstGeom prst="rect">
            <a:avLst/>
          </a:prstGeom>
          <a:noFill/>
        </p:spPr>
        <p:txBody>
          <a:bodyPr wrap="square">
            <a:spAutoFit/>
          </a:bodyPr>
          <a:lstStyle/>
          <a:p>
            <a:pPr algn="l"/>
            <a:r>
              <a:rPr sz="4600" b="1">
                <a:solidFill>
                  <a:srgbClr val="F8FAFC"/>
                </a:solidFill>
                <a:latin typeface="Calibri"/>
              </a:rPr>
              <a:t>Smart Profits</a:t>
            </a:r>
          </a:p>
        </p:txBody>
      </p:sp>
      <p:sp>
        <p:nvSpPr>
          <p:cNvPr id="8" name="TextBox 7"/>
          <p:cNvSpPr txBox="1"/>
          <p:nvPr/>
        </p:nvSpPr>
        <p:spPr>
          <a:xfrm>
            <a:off x="502920" y="3246120"/>
            <a:ext cx="10972800" cy="502920"/>
          </a:xfrm>
          <a:prstGeom prst="rect">
            <a:avLst/>
          </a:prstGeom>
          <a:noFill/>
        </p:spPr>
        <p:txBody>
          <a:bodyPr wrap="square">
            <a:spAutoFit/>
          </a:bodyPr>
          <a:lstStyle/>
          <a:p>
            <a:pPr algn="l"/>
            <a:r>
              <a:rPr sz="2100" b="0">
                <a:solidFill>
                  <a:srgbClr val="E8C56B"/>
                </a:solidFill>
                <a:latin typeface="Calibri"/>
              </a:rPr>
              <a:t>AI-Driven Financial Analytics &amp; Telco-Secured Merchant Platform</a:t>
            </a:r>
          </a:p>
        </p:txBody>
      </p:sp>
      <p:sp>
        <p:nvSpPr>
          <p:cNvPr id="9" name="TextBox 8"/>
          <p:cNvSpPr txBox="1"/>
          <p:nvPr/>
        </p:nvSpPr>
        <p:spPr>
          <a:xfrm>
            <a:off x="502920" y="3840480"/>
            <a:ext cx="10789920" cy="822960"/>
          </a:xfrm>
          <a:prstGeom prst="rect">
            <a:avLst/>
          </a:prstGeom>
          <a:noFill/>
        </p:spPr>
        <p:txBody>
          <a:bodyPr wrap="square">
            <a:spAutoFit/>
          </a:bodyPr>
          <a:lstStyle/>
          <a:p>
            <a:pPr algn="l"/>
            <a:r>
              <a:rPr sz="1500" b="0">
                <a:solidFill>
                  <a:srgbClr val="94A3B8"/>
                </a:solidFill>
                <a:latin typeface="Calibri"/>
              </a:rPr>
              <a:t>Theme 4: Secure FinTech, Payments &amp; Anti-Fraud Innovation
The merchant’s CFO in the chat. Bank-grade SIM-swap defence on the login.
CAMARA APIs via Nokia Network-as-Code. Decisions by an AI Agent — not by SMS.</a:t>
            </a:r>
          </a:p>
        </p:txBody>
      </p:sp>
      <p:sp>
        <p:nvSpPr>
          <p:cNvPr id="10" name="Rounded Rectangle 9"/>
          <p:cNvSpPr/>
          <p:nvPr/>
        </p:nvSpPr>
        <p:spPr>
          <a:xfrm>
            <a:off x="457200" y="4892040"/>
            <a:ext cx="2139696" cy="384048"/>
          </a:xfrm>
          <a:prstGeom prst="roundRect">
            <a:avLst>
              <a:gd name="adj" fmla="val 8000"/>
            </a:avLst>
          </a:prstGeom>
          <a:solidFill>
            <a:srgbClr val="14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4928616"/>
            <a:ext cx="2139696" cy="329184"/>
          </a:xfrm>
          <a:prstGeom prst="rect">
            <a:avLst/>
          </a:prstGeom>
          <a:noFill/>
        </p:spPr>
        <p:txBody>
          <a:bodyPr wrap="square">
            <a:spAutoFit/>
          </a:bodyPr>
          <a:lstStyle/>
          <a:p>
            <a:pPr algn="ctr"/>
            <a:r>
              <a:rPr sz="1100" b="1">
                <a:solidFill>
                  <a:srgbClr val="4FD1C5"/>
                </a:solidFill>
                <a:latin typeface="Calibri"/>
              </a:rPr>
              <a:t>SIM Swap</a:t>
            </a:r>
          </a:p>
        </p:txBody>
      </p:sp>
      <p:sp>
        <p:nvSpPr>
          <p:cNvPr id="12" name="Rounded Rectangle 11"/>
          <p:cNvSpPr/>
          <p:nvPr/>
        </p:nvSpPr>
        <p:spPr>
          <a:xfrm>
            <a:off x="2706624" y="4892040"/>
            <a:ext cx="2139696" cy="384048"/>
          </a:xfrm>
          <a:prstGeom prst="roundRect">
            <a:avLst>
              <a:gd name="adj" fmla="val 8000"/>
            </a:avLst>
          </a:prstGeom>
          <a:solidFill>
            <a:srgbClr val="14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06624" y="4928616"/>
            <a:ext cx="2139696" cy="329184"/>
          </a:xfrm>
          <a:prstGeom prst="rect">
            <a:avLst/>
          </a:prstGeom>
          <a:noFill/>
        </p:spPr>
        <p:txBody>
          <a:bodyPr wrap="square">
            <a:spAutoFit/>
          </a:bodyPr>
          <a:lstStyle/>
          <a:p>
            <a:pPr algn="ctr"/>
            <a:r>
              <a:rPr sz="1100" b="1">
                <a:solidFill>
                  <a:srgbClr val="4FD1C5"/>
                </a:solidFill>
                <a:latin typeface="Calibri"/>
              </a:rPr>
              <a:t>Number Verification</a:t>
            </a:r>
          </a:p>
        </p:txBody>
      </p:sp>
      <p:sp>
        <p:nvSpPr>
          <p:cNvPr id="14" name="Rounded Rectangle 13"/>
          <p:cNvSpPr/>
          <p:nvPr/>
        </p:nvSpPr>
        <p:spPr>
          <a:xfrm>
            <a:off x="4956048" y="4892040"/>
            <a:ext cx="2139696" cy="384048"/>
          </a:xfrm>
          <a:prstGeom prst="roundRect">
            <a:avLst>
              <a:gd name="adj" fmla="val 8000"/>
            </a:avLst>
          </a:prstGeom>
          <a:solidFill>
            <a:srgbClr val="14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956048" y="4928616"/>
            <a:ext cx="2139696" cy="329184"/>
          </a:xfrm>
          <a:prstGeom prst="rect">
            <a:avLst/>
          </a:prstGeom>
          <a:noFill/>
        </p:spPr>
        <p:txBody>
          <a:bodyPr wrap="square">
            <a:spAutoFit/>
          </a:bodyPr>
          <a:lstStyle/>
          <a:p>
            <a:pPr algn="ctr"/>
            <a:r>
              <a:rPr sz="1100" b="1">
                <a:solidFill>
                  <a:srgbClr val="4FD1C5"/>
                </a:solidFill>
                <a:latin typeface="Calibri"/>
              </a:rPr>
              <a:t>Location Verification</a:t>
            </a:r>
          </a:p>
        </p:txBody>
      </p:sp>
      <p:sp>
        <p:nvSpPr>
          <p:cNvPr id="16" name="Rounded Rectangle 15"/>
          <p:cNvSpPr/>
          <p:nvPr/>
        </p:nvSpPr>
        <p:spPr>
          <a:xfrm>
            <a:off x="7205472" y="4892040"/>
            <a:ext cx="2139696" cy="384048"/>
          </a:xfrm>
          <a:prstGeom prst="roundRect">
            <a:avLst>
              <a:gd name="adj" fmla="val 8000"/>
            </a:avLst>
          </a:prstGeom>
          <a:solidFill>
            <a:srgbClr val="14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05472" y="4928616"/>
            <a:ext cx="2139696" cy="329184"/>
          </a:xfrm>
          <a:prstGeom prst="rect">
            <a:avLst/>
          </a:prstGeom>
          <a:noFill/>
        </p:spPr>
        <p:txBody>
          <a:bodyPr wrap="square">
            <a:spAutoFit/>
          </a:bodyPr>
          <a:lstStyle/>
          <a:p>
            <a:pPr algn="ctr"/>
            <a:r>
              <a:rPr sz="1100" b="1">
                <a:solidFill>
                  <a:srgbClr val="4FD1C5"/>
                </a:solidFill>
                <a:latin typeface="Calibri"/>
              </a:rPr>
              <a:t>Device Swap</a:t>
            </a:r>
          </a:p>
        </p:txBody>
      </p:sp>
      <p:sp>
        <p:nvSpPr>
          <p:cNvPr id="18" name="Rounded Rectangle 17"/>
          <p:cNvSpPr/>
          <p:nvPr/>
        </p:nvSpPr>
        <p:spPr>
          <a:xfrm>
            <a:off x="9454896" y="4892040"/>
            <a:ext cx="2139696" cy="384048"/>
          </a:xfrm>
          <a:prstGeom prst="roundRect">
            <a:avLst>
              <a:gd name="adj" fmla="val 8000"/>
            </a:avLst>
          </a:prstGeom>
          <a:solidFill>
            <a:srgbClr val="14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54896" y="4928616"/>
            <a:ext cx="2139696" cy="329184"/>
          </a:xfrm>
          <a:prstGeom prst="rect">
            <a:avLst/>
          </a:prstGeom>
          <a:noFill/>
        </p:spPr>
        <p:txBody>
          <a:bodyPr wrap="square">
            <a:spAutoFit/>
          </a:bodyPr>
          <a:lstStyle/>
          <a:p>
            <a:pPr algn="ctr"/>
            <a:r>
              <a:rPr sz="1100" b="1">
                <a:solidFill>
                  <a:srgbClr val="4FD1C5"/>
                </a:solidFill>
                <a:latin typeface="Calibri"/>
              </a:rPr>
              <a:t>Smart Guard AI Agent</a:t>
            </a:r>
          </a:p>
        </p:txBody>
      </p:sp>
      <p:sp>
        <p:nvSpPr>
          <p:cNvPr id="20" name="TextBox 19"/>
          <p:cNvSpPr txBox="1"/>
          <p:nvPr/>
        </p:nvSpPr>
        <p:spPr>
          <a:xfrm>
            <a:off x="502920" y="5532120"/>
            <a:ext cx="10972800" cy="502920"/>
          </a:xfrm>
          <a:prstGeom prst="rect">
            <a:avLst/>
          </a:prstGeom>
          <a:noFill/>
        </p:spPr>
        <p:txBody>
          <a:bodyPr wrap="square">
            <a:spAutoFit/>
          </a:bodyPr>
          <a:lstStyle/>
          <a:p>
            <a:pPr algn="l"/>
            <a:r>
              <a:rPr sz="1300" b="0">
                <a:solidFill>
                  <a:srgbClr val="E8C56B"/>
                </a:solidFill>
                <a:latin typeface="Calibri"/>
              </a:rPr>
              <a:t>Israa Nael Hamad  ·  University of Palestine, Gaza  ·  Bitsandbytesdude Software Agency  ·  MENA</a:t>
            </a:r>
          </a:p>
        </p:txBody>
      </p:sp>
      <p:sp>
        <p:nvSpPr>
          <p:cNvPr id="21" name="TextBox 20"/>
          <p:cNvSpPr txBox="1"/>
          <p:nvPr/>
        </p:nvSpPr>
        <p:spPr>
          <a:xfrm>
            <a:off x="457200" y="6510528"/>
            <a:ext cx="8229600" cy="256032"/>
          </a:xfrm>
          <a:prstGeom prst="rect">
            <a:avLst/>
          </a:prstGeom>
          <a:noFill/>
        </p:spPr>
        <p:txBody>
          <a:bodyPr wrap="square">
            <a:spAutoFit/>
          </a:bodyPr>
          <a:lstStyle/>
          <a:p>
            <a:pPr algn="l"/>
            <a:r>
              <a:rPr sz="1000" b="0">
                <a:solidFill>
                  <a:srgbClr val="94A3B8"/>
                </a:solidFill>
                <a:latin typeface="Calibri"/>
              </a:rPr>
              <a:t>Smart Profits  ·  GSMA MENA Ignite  ·  Theme 4  ·  Nokia Network-as-Code</a:t>
            </a:r>
          </a:p>
        </p:txBody>
      </p:sp>
      <p:sp>
        <p:nvSpPr>
          <p:cNvPr id="22" name="TextBox 21"/>
          <p:cNvSpPr txBox="1"/>
          <p:nvPr/>
        </p:nvSpPr>
        <p:spPr>
          <a:xfrm>
            <a:off x="10424160" y="6510528"/>
            <a:ext cx="1280160" cy="256032"/>
          </a:xfrm>
          <a:prstGeom prst="rect">
            <a:avLst/>
          </a:prstGeom>
          <a:noFill/>
        </p:spPr>
        <p:txBody>
          <a:bodyPr wrap="square">
            <a:spAutoFit/>
          </a:bodyPr>
          <a:lstStyle/>
          <a:p>
            <a:pPr algn="r"/>
            <a:r>
              <a:rPr sz="1000" b="0">
                <a:solidFill>
                  <a:srgbClr val="94A3B8"/>
                </a:solidFill>
                <a:latin typeface="Calibri"/>
              </a:rPr>
              <a:t>01 / 19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56032"/>
            <a:ext cx="10972800" cy="292608"/>
          </a:xfrm>
          <a:prstGeom prst="rect">
            <a:avLst/>
          </a:prstGeom>
          <a:noFill/>
        </p:spPr>
        <p:txBody>
          <a:bodyPr wrap="square">
            <a:spAutoFit/>
          </a:bodyPr>
          <a:lstStyle/>
          <a:p>
            <a:pPr algn="l"/>
            <a:r>
              <a:rPr sz="1100" b="1">
                <a:solidFill>
                  <a:srgbClr val="4FD1C5"/>
                </a:solidFill>
                <a:latin typeface="Calibri"/>
              </a:rPr>
              <a:t>THE STORY — PITCH OPENER</a:t>
            </a:r>
          </a:p>
        </p:txBody>
      </p:sp>
      <p:sp>
        <p:nvSpPr>
          <p:cNvPr id="6" name="TextBox 5"/>
          <p:cNvSpPr txBox="1"/>
          <p:nvPr/>
        </p:nvSpPr>
        <p:spPr>
          <a:xfrm>
            <a:off x="502920" y="530352"/>
            <a:ext cx="11155680" cy="594360"/>
          </a:xfrm>
          <a:prstGeom prst="rect">
            <a:avLst/>
          </a:prstGeom>
          <a:noFill/>
        </p:spPr>
        <p:txBody>
          <a:bodyPr wrap="square">
            <a:spAutoFit/>
          </a:bodyPr>
          <a:lstStyle/>
          <a:p>
            <a:pPr algn="l"/>
            <a:r>
              <a:rPr sz="2600" b="1" dirty="0">
                <a:solidFill>
                  <a:srgbClr val="F8FAFC"/>
                </a:solidFill>
                <a:latin typeface="Calibri"/>
              </a:rPr>
              <a:t>A merchant. An Excel file. A stolen SIM.</a:t>
            </a:r>
          </a:p>
        </p:txBody>
      </p:sp>
      <p:sp>
        <p:nvSpPr>
          <p:cNvPr id="7" name="TextBox 6"/>
          <p:cNvSpPr txBox="1"/>
          <p:nvPr/>
        </p:nvSpPr>
        <p:spPr>
          <a:xfrm>
            <a:off x="502920" y="1078992"/>
            <a:ext cx="11155680" cy="411480"/>
          </a:xfrm>
          <a:prstGeom prst="rect">
            <a:avLst/>
          </a:prstGeom>
          <a:noFill/>
        </p:spPr>
        <p:txBody>
          <a:bodyPr wrap="square">
            <a:spAutoFit/>
          </a:bodyPr>
          <a:lstStyle/>
          <a:p>
            <a:pPr algn="l"/>
            <a:r>
              <a:rPr sz="1400" b="0">
                <a:solidFill>
                  <a:srgbClr val="94A3B8"/>
                </a:solidFill>
                <a:latin typeface="Calibri"/>
              </a:rPr>
              <a:t>Start every pitch with this narrative — then show the live demo that stops it.</a:t>
            </a:r>
          </a:p>
        </p:txBody>
      </p:sp>
      <p:sp>
        <p:nvSpPr>
          <p:cNvPr id="8" name="Rounded Rectangle 7"/>
          <p:cNvSpPr/>
          <p:nvPr/>
        </p:nvSpPr>
        <p:spPr>
          <a:xfrm>
            <a:off x="457200" y="1554480"/>
            <a:ext cx="11247120" cy="233172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00887" y="2200572"/>
            <a:ext cx="10789920" cy="954107"/>
          </a:xfrm>
          <a:prstGeom prst="rect">
            <a:avLst/>
          </a:prstGeom>
          <a:noFill/>
        </p:spPr>
        <p:txBody>
          <a:bodyPr wrap="square">
            <a:spAutoFit/>
          </a:bodyPr>
          <a:lstStyle/>
          <a:p>
            <a:pPr algn="l"/>
            <a:r>
              <a:rPr sz="1400" b="0" dirty="0">
                <a:solidFill>
                  <a:srgbClr val="F8FAFC"/>
                </a:solidFill>
                <a:latin typeface="Calibri"/>
              </a:rPr>
              <a:t>A merchant in the Middle East runs the business from Excel. Their phone line is hijacked through a SIM swap. The attacker opens the advisor, downloads the P&amp;L, and changes product prices.
Smart Profits stops that — from the moment of registration until the latest financial file upload.</a:t>
            </a:r>
          </a:p>
        </p:txBody>
      </p:sp>
      <p:sp>
        <p:nvSpPr>
          <p:cNvPr id="10" name="Rounded Rectangle 9"/>
          <p:cNvSpPr/>
          <p:nvPr/>
        </p:nvSpPr>
        <p:spPr>
          <a:xfrm>
            <a:off x="457200" y="4069080"/>
            <a:ext cx="3657600" cy="1874519"/>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 name="TextBox 10"/>
          <p:cNvSpPr txBox="1"/>
          <p:nvPr/>
        </p:nvSpPr>
        <p:spPr>
          <a:xfrm>
            <a:off x="658368" y="4197096"/>
            <a:ext cx="3291840" cy="307777"/>
          </a:xfrm>
          <a:prstGeom prst="rect">
            <a:avLst/>
          </a:prstGeom>
          <a:noFill/>
        </p:spPr>
        <p:txBody>
          <a:bodyPr wrap="square">
            <a:spAutoFit/>
          </a:bodyPr>
          <a:lstStyle/>
          <a:p>
            <a:pPr algn="l"/>
            <a:r>
              <a:rPr sz="1400" b="1" dirty="0">
                <a:solidFill>
                  <a:srgbClr val="E8C56B"/>
                </a:solidFill>
                <a:latin typeface="Calibri"/>
              </a:rPr>
              <a:t>Same files = business</a:t>
            </a:r>
          </a:p>
        </p:txBody>
      </p:sp>
      <p:sp>
        <p:nvSpPr>
          <p:cNvPr id="12" name="TextBox 11"/>
          <p:cNvSpPr txBox="1"/>
          <p:nvPr/>
        </p:nvSpPr>
        <p:spPr>
          <a:xfrm>
            <a:off x="658368" y="4507992"/>
            <a:ext cx="3291840" cy="523220"/>
          </a:xfrm>
          <a:prstGeom prst="rect">
            <a:avLst/>
          </a:prstGeom>
          <a:noFill/>
        </p:spPr>
        <p:txBody>
          <a:bodyPr wrap="square">
            <a:spAutoFit/>
          </a:bodyPr>
          <a:lstStyle/>
          <a:p>
            <a:pPr algn="l"/>
            <a:r>
              <a:rPr sz="1400" b="0" dirty="0">
                <a:solidFill>
                  <a:srgbClr val="F8FAFC"/>
                </a:solidFill>
                <a:latin typeface="Calibri"/>
              </a:rPr>
              <a:t>The spreadsheet IS the books. Whoever owns login owns profit, prices and exports.</a:t>
            </a:r>
          </a:p>
        </p:txBody>
      </p:sp>
      <p:sp>
        <p:nvSpPr>
          <p:cNvPr id="13" name="Rounded Rectangle 12"/>
          <p:cNvSpPr/>
          <p:nvPr/>
        </p:nvSpPr>
        <p:spPr>
          <a:xfrm>
            <a:off x="4251960" y="4069080"/>
            <a:ext cx="3657600" cy="1874519"/>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4" name="TextBox 13"/>
          <p:cNvSpPr txBox="1"/>
          <p:nvPr/>
        </p:nvSpPr>
        <p:spPr>
          <a:xfrm>
            <a:off x="4453128" y="4197096"/>
            <a:ext cx="3291840" cy="307777"/>
          </a:xfrm>
          <a:prstGeom prst="rect">
            <a:avLst/>
          </a:prstGeom>
          <a:noFill/>
        </p:spPr>
        <p:txBody>
          <a:bodyPr wrap="square">
            <a:spAutoFit/>
          </a:bodyPr>
          <a:lstStyle/>
          <a:p>
            <a:pPr algn="l"/>
            <a:r>
              <a:rPr sz="1400" b="1" dirty="0">
                <a:solidFill>
                  <a:srgbClr val="E8C56B"/>
                </a:solidFill>
                <a:latin typeface="Calibri"/>
              </a:rPr>
              <a:t>SMS OTP fails</a:t>
            </a:r>
          </a:p>
        </p:txBody>
      </p:sp>
      <p:sp>
        <p:nvSpPr>
          <p:cNvPr id="15" name="TextBox 14"/>
          <p:cNvSpPr txBox="1"/>
          <p:nvPr/>
        </p:nvSpPr>
        <p:spPr>
          <a:xfrm>
            <a:off x="4453128" y="4507992"/>
            <a:ext cx="3291840" cy="738664"/>
          </a:xfrm>
          <a:prstGeom prst="rect">
            <a:avLst/>
          </a:prstGeom>
          <a:noFill/>
        </p:spPr>
        <p:txBody>
          <a:bodyPr wrap="square">
            <a:spAutoFit/>
          </a:bodyPr>
          <a:lstStyle/>
          <a:p>
            <a:pPr algn="l"/>
            <a:r>
              <a:rPr sz="1400" b="0" dirty="0">
                <a:solidFill>
                  <a:srgbClr val="F8FAFC"/>
                </a:solidFill>
                <a:latin typeface="Calibri"/>
              </a:rPr>
              <a:t>After SIM swap, SMS codes go to the attacker. Network APIs do not trust that channel.</a:t>
            </a:r>
          </a:p>
        </p:txBody>
      </p:sp>
      <p:sp>
        <p:nvSpPr>
          <p:cNvPr id="16" name="Rounded Rectangle 15"/>
          <p:cNvSpPr/>
          <p:nvPr/>
        </p:nvSpPr>
        <p:spPr>
          <a:xfrm>
            <a:off x="8046720" y="4069080"/>
            <a:ext cx="3657600" cy="1874519"/>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7" name="TextBox 16"/>
          <p:cNvSpPr txBox="1"/>
          <p:nvPr/>
        </p:nvSpPr>
        <p:spPr>
          <a:xfrm>
            <a:off x="8247888" y="4197096"/>
            <a:ext cx="3291840" cy="307777"/>
          </a:xfrm>
          <a:prstGeom prst="rect">
            <a:avLst/>
          </a:prstGeom>
          <a:noFill/>
        </p:spPr>
        <p:txBody>
          <a:bodyPr wrap="square">
            <a:spAutoFit/>
          </a:bodyPr>
          <a:lstStyle/>
          <a:p>
            <a:pPr algn="l"/>
            <a:r>
              <a:rPr sz="1400" b="1" dirty="0">
                <a:solidFill>
                  <a:srgbClr val="E8C56B"/>
                </a:solidFill>
                <a:latin typeface="Calibri"/>
              </a:rPr>
              <a:t>Smart Guard stops it</a:t>
            </a:r>
          </a:p>
        </p:txBody>
      </p:sp>
      <p:sp>
        <p:nvSpPr>
          <p:cNvPr id="18" name="TextBox 17"/>
          <p:cNvSpPr txBox="1"/>
          <p:nvPr/>
        </p:nvSpPr>
        <p:spPr>
          <a:xfrm>
            <a:off x="8247888" y="4507992"/>
            <a:ext cx="3291840" cy="523220"/>
          </a:xfrm>
          <a:prstGeom prst="rect">
            <a:avLst/>
          </a:prstGeom>
          <a:noFill/>
        </p:spPr>
        <p:txBody>
          <a:bodyPr wrap="square">
            <a:spAutoFit/>
          </a:bodyPr>
          <a:lstStyle/>
          <a:p>
            <a:pPr algn="l"/>
            <a:r>
              <a:rPr sz="1400" b="0" dirty="0">
                <a:solidFill>
                  <a:srgbClr val="F8FAFC"/>
                </a:solidFill>
                <a:latin typeface="Calibri"/>
              </a:rPr>
              <a:t>CAMARA signals + financial sensitivity → Allow · Step-up · Freeze before damage.</a:t>
            </a:r>
          </a:p>
        </p:txBody>
      </p:sp>
      <p:sp>
        <p:nvSpPr>
          <p:cNvPr id="19" name="TextBox 18"/>
          <p:cNvSpPr txBox="1"/>
          <p:nvPr/>
        </p:nvSpPr>
        <p:spPr>
          <a:xfrm>
            <a:off x="457200" y="6510528"/>
            <a:ext cx="8229600" cy="256032"/>
          </a:xfrm>
          <a:prstGeom prst="rect">
            <a:avLst/>
          </a:prstGeom>
          <a:noFill/>
        </p:spPr>
        <p:txBody>
          <a:bodyPr wrap="square">
            <a:spAutoFit/>
          </a:bodyPr>
          <a:lstStyle/>
          <a:p>
            <a:pPr algn="l"/>
            <a:r>
              <a:rPr sz="1000" b="0">
                <a:solidFill>
                  <a:srgbClr val="94A3B8"/>
                </a:solidFill>
                <a:latin typeface="Calibri"/>
              </a:rPr>
              <a:t>Smart Profits  ·  GSMA MENA Ignite  ·  Theme 4  ·  Nokia Network-as-Code</a:t>
            </a:r>
          </a:p>
        </p:txBody>
      </p:sp>
      <p:sp>
        <p:nvSpPr>
          <p:cNvPr id="20" name="TextBox 19"/>
          <p:cNvSpPr txBox="1"/>
          <p:nvPr/>
        </p:nvSpPr>
        <p:spPr>
          <a:xfrm>
            <a:off x="10424160" y="6510528"/>
            <a:ext cx="1280160" cy="256032"/>
          </a:xfrm>
          <a:prstGeom prst="rect">
            <a:avLst/>
          </a:prstGeom>
          <a:noFill/>
        </p:spPr>
        <p:txBody>
          <a:bodyPr wrap="square">
            <a:spAutoFit/>
          </a:bodyPr>
          <a:lstStyle/>
          <a:p>
            <a:pPr algn="r"/>
            <a:r>
              <a:rPr sz="1000" b="0">
                <a:solidFill>
                  <a:srgbClr val="94A3B8"/>
                </a:solidFill>
                <a:latin typeface="Calibri"/>
              </a:rPr>
              <a:t>02 / 19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56032"/>
            <a:ext cx="10972800" cy="292608"/>
          </a:xfrm>
          <a:prstGeom prst="rect">
            <a:avLst/>
          </a:prstGeom>
          <a:noFill/>
        </p:spPr>
        <p:txBody>
          <a:bodyPr wrap="square">
            <a:spAutoFit/>
          </a:bodyPr>
          <a:lstStyle/>
          <a:p>
            <a:pPr algn="l"/>
            <a:r>
              <a:rPr sz="1100" b="1">
                <a:solidFill>
                  <a:srgbClr val="4FD1C5"/>
                </a:solidFill>
                <a:latin typeface="Calibri"/>
              </a:rPr>
              <a:t>EXECUTIVE SUMMARY</a:t>
            </a:r>
          </a:p>
        </p:txBody>
      </p:sp>
      <p:sp>
        <p:nvSpPr>
          <p:cNvPr id="6" name="TextBox 5"/>
          <p:cNvSpPr txBox="1"/>
          <p:nvPr/>
        </p:nvSpPr>
        <p:spPr>
          <a:xfrm>
            <a:off x="502920" y="530352"/>
            <a:ext cx="11155680" cy="594360"/>
          </a:xfrm>
          <a:prstGeom prst="rect">
            <a:avLst/>
          </a:prstGeom>
          <a:noFill/>
        </p:spPr>
        <p:txBody>
          <a:bodyPr wrap="square">
            <a:spAutoFit/>
          </a:bodyPr>
          <a:lstStyle/>
          <a:p>
            <a:pPr algn="l"/>
            <a:r>
              <a:rPr sz="2600" b="1">
                <a:solidFill>
                  <a:srgbClr val="F8FAFC"/>
                </a:solidFill>
                <a:latin typeface="Calibri"/>
              </a:rPr>
              <a:t>One slide for the jury</a:t>
            </a:r>
          </a:p>
        </p:txBody>
      </p:sp>
      <p:sp>
        <p:nvSpPr>
          <p:cNvPr id="7" name="TextBox 6"/>
          <p:cNvSpPr txBox="1"/>
          <p:nvPr/>
        </p:nvSpPr>
        <p:spPr>
          <a:xfrm>
            <a:off x="502920" y="1078992"/>
            <a:ext cx="11155680" cy="411480"/>
          </a:xfrm>
          <a:prstGeom prst="rect">
            <a:avLst/>
          </a:prstGeom>
          <a:noFill/>
        </p:spPr>
        <p:txBody>
          <a:bodyPr wrap="square">
            <a:spAutoFit/>
          </a:bodyPr>
          <a:lstStyle/>
          <a:p>
            <a:pPr algn="l"/>
            <a:r>
              <a:rPr sz="1400" b="0">
                <a:solidFill>
                  <a:srgbClr val="94A3B8"/>
                </a:solidFill>
                <a:latin typeface="Calibri"/>
              </a:rPr>
              <a:t>What we built, why it wins Theme 4, and how both mandatory requirements are met.</a:t>
            </a:r>
          </a:p>
        </p:txBody>
      </p:sp>
      <p:sp>
        <p:nvSpPr>
          <p:cNvPr id="8" name="Rounded Rectangle 7"/>
          <p:cNvSpPr/>
          <p:nvPr/>
        </p:nvSpPr>
        <p:spPr>
          <a:xfrm>
            <a:off x="457200" y="1600200"/>
            <a:ext cx="3611880" cy="233172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728216"/>
            <a:ext cx="3246120" cy="307777"/>
          </a:xfrm>
          <a:prstGeom prst="rect">
            <a:avLst/>
          </a:prstGeom>
          <a:noFill/>
        </p:spPr>
        <p:txBody>
          <a:bodyPr wrap="square">
            <a:spAutoFit/>
          </a:bodyPr>
          <a:lstStyle/>
          <a:p>
            <a:pPr algn="l"/>
            <a:r>
              <a:rPr sz="1400" b="1" dirty="0">
                <a:solidFill>
                  <a:srgbClr val="E8C56B"/>
                </a:solidFill>
                <a:latin typeface="Calibri"/>
              </a:rPr>
              <a:t>The problem</a:t>
            </a:r>
          </a:p>
        </p:txBody>
      </p:sp>
      <p:sp>
        <p:nvSpPr>
          <p:cNvPr id="10" name="TextBox 9"/>
          <p:cNvSpPr txBox="1"/>
          <p:nvPr/>
        </p:nvSpPr>
        <p:spPr>
          <a:xfrm>
            <a:off x="658368" y="2039112"/>
            <a:ext cx="3246120" cy="1169551"/>
          </a:xfrm>
          <a:prstGeom prst="rect">
            <a:avLst/>
          </a:prstGeom>
          <a:noFill/>
        </p:spPr>
        <p:txBody>
          <a:bodyPr wrap="square">
            <a:spAutoFit/>
          </a:bodyPr>
          <a:lstStyle/>
          <a:p>
            <a:pPr algn="l"/>
            <a:r>
              <a:rPr sz="1400" b="0" dirty="0">
                <a:solidFill>
                  <a:srgbClr val="F8FAFC"/>
                </a:solidFill>
                <a:latin typeface="Calibri"/>
              </a:rPr>
              <a:t>MENA merchants run the business from Excel. Phantom profit hides real cash flow. A SIM swap defeats SMS OTP — then the attacker owns the P&amp;L files, prices, and exports.</a:t>
            </a:r>
          </a:p>
        </p:txBody>
      </p:sp>
      <p:sp>
        <p:nvSpPr>
          <p:cNvPr id="11" name="Rounded Rectangle 10"/>
          <p:cNvSpPr/>
          <p:nvPr/>
        </p:nvSpPr>
        <p:spPr>
          <a:xfrm>
            <a:off x="4297680" y="1600200"/>
            <a:ext cx="3611880" cy="233172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98848" y="1728216"/>
            <a:ext cx="3246120" cy="307777"/>
          </a:xfrm>
          <a:prstGeom prst="rect">
            <a:avLst/>
          </a:prstGeom>
          <a:noFill/>
        </p:spPr>
        <p:txBody>
          <a:bodyPr wrap="square">
            <a:spAutoFit/>
          </a:bodyPr>
          <a:lstStyle/>
          <a:p>
            <a:pPr algn="l"/>
            <a:r>
              <a:rPr sz="1400" b="1" dirty="0">
                <a:solidFill>
                  <a:srgbClr val="E8C56B"/>
                </a:solidFill>
                <a:latin typeface="Calibri"/>
              </a:rPr>
              <a:t>Our solution</a:t>
            </a:r>
          </a:p>
        </p:txBody>
      </p:sp>
      <p:sp>
        <p:nvSpPr>
          <p:cNvPr id="13" name="TextBox 12"/>
          <p:cNvSpPr txBox="1"/>
          <p:nvPr/>
        </p:nvSpPr>
        <p:spPr>
          <a:xfrm>
            <a:off x="4498848" y="2039112"/>
            <a:ext cx="3246120" cy="1169551"/>
          </a:xfrm>
          <a:prstGeom prst="rect">
            <a:avLst/>
          </a:prstGeom>
          <a:noFill/>
        </p:spPr>
        <p:txBody>
          <a:bodyPr wrap="square">
            <a:spAutoFit/>
          </a:bodyPr>
          <a:lstStyle/>
          <a:p>
            <a:pPr algn="l"/>
            <a:r>
              <a:rPr sz="1400" b="0" dirty="0">
                <a:solidFill>
                  <a:srgbClr val="F8FAFC"/>
                </a:solidFill>
                <a:latin typeface="Calibri"/>
              </a:rPr>
              <a:t>Smart Profits = Financial AI + Smart Guard AI Agent. Analytics on messy Arabic/English ledgers, protected by GSMA CAMARA signals from Nokia Network-as-Code.</a:t>
            </a:r>
          </a:p>
        </p:txBody>
      </p:sp>
      <p:sp>
        <p:nvSpPr>
          <p:cNvPr id="14" name="Rounded Rectangle 13"/>
          <p:cNvSpPr/>
          <p:nvPr/>
        </p:nvSpPr>
        <p:spPr>
          <a:xfrm>
            <a:off x="8138160" y="1600200"/>
            <a:ext cx="3611880" cy="233172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39328" y="1728216"/>
            <a:ext cx="3246120" cy="307777"/>
          </a:xfrm>
          <a:prstGeom prst="rect">
            <a:avLst/>
          </a:prstGeom>
          <a:noFill/>
        </p:spPr>
        <p:txBody>
          <a:bodyPr wrap="square">
            <a:spAutoFit/>
          </a:bodyPr>
          <a:lstStyle/>
          <a:p>
            <a:pPr algn="l"/>
            <a:r>
              <a:rPr sz="1400" b="1" dirty="0">
                <a:solidFill>
                  <a:srgbClr val="E8C56B"/>
                </a:solidFill>
                <a:latin typeface="Calibri"/>
              </a:rPr>
              <a:t>Why we win</a:t>
            </a:r>
          </a:p>
        </p:txBody>
      </p:sp>
      <p:sp>
        <p:nvSpPr>
          <p:cNvPr id="16" name="TextBox 15"/>
          <p:cNvSpPr txBox="1"/>
          <p:nvPr/>
        </p:nvSpPr>
        <p:spPr>
          <a:xfrm>
            <a:off x="8339328" y="2039112"/>
            <a:ext cx="3246120" cy="954107"/>
          </a:xfrm>
          <a:prstGeom prst="rect">
            <a:avLst/>
          </a:prstGeom>
          <a:noFill/>
        </p:spPr>
        <p:txBody>
          <a:bodyPr wrap="square">
            <a:spAutoFit/>
          </a:bodyPr>
          <a:lstStyle/>
          <a:p>
            <a:pPr algn="l"/>
            <a:r>
              <a:rPr sz="1400" b="0" dirty="0">
                <a:solidFill>
                  <a:srgbClr val="F8FAFC"/>
                </a:solidFill>
                <a:latin typeface="Calibri"/>
              </a:rPr>
              <a:t>Real product (Next.js + PostgreSQL). Real agent policy (Allow / Step-up / Freeze). Live Nokia </a:t>
            </a:r>
            <a:r>
              <a:rPr sz="1400" b="0" dirty="0" err="1">
                <a:solidFill>
                  <a:srgbClr val="F8FAFC"/>
                </a:solidFill>
                <a:latin typeface="Calibri"/>
              </a:rPr>
              <a:t>RapidAPI</a:t>
            </a:r>
            <a:r>
              <a:rPr sz="1400" b="0" dirty="0">
                <a:solidFill>
                  <a:srgbClr val="F8FAFC"/>
                </a:solidFill>
                <a:latin typeface="Calibri"/>
              </a:rPr>
              <a:t> logs in prototype. Built for MENA (RTL Arabic + English).</a:t>
            </a:r>
          </a:p>
        </p:txBody>
      </p:sp>
      <p:sp>
        <p:nvSpPr>
          <p:cNvPr id="17" name="Rounded Rectangle 16"/>
          <p:cNvSpPr/>
          <p:nvPr/>
        </p:nvSpPr>
        <p:spPr>
          <a:xfrm>
            <a:off x="457200" y="4160520"/>
            <a:ext cx="11247120" cy="178308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8" name="TextBox 17"/>
          <p:cNvSpPr txBox="1"/>
          <p:nvPr/>
        </p:nvSpPr>
        <p:spPr>
          <a:xfrm>
            <a:off x="685800" y="4297680"/>
            <a:ext cx="10972800" cy="307777"/>
          </a:xfrm>
          <a:prstGeom prst="rect">
            <a:avLst/>
          </a:prstGeom>
          <a:noFill/>
        </p:spPr>
        <p:txBody>
          <a:bodyPr wrap="square">
            <a:spAutoFit/>
          </a:bodyPr>
          <a:lstStyle/>
          <a:p>
            <a:pPr algn="l"/>
            <a:r>
              <a:rPr sz="1400" b="1" dirty="0">
                <a:solidFill>
                  <a:srgbClr val="E8C56B"/>
                </a:solidFill>
                <a:latin typeface="Calibri"/>
              </a:rPr>
              <a:t>Mandatory requirements — explicit declaration</a:t>
            </a:r>
          </a:p>
        </p:txBody>
      </p:sp>
      <p:sp>
        <p:nvSpPr>
          <p:cNvPr id="19" name="TextBox 18"/>
          <p:cNvSpPr txBox="1"/>
          <p:nvPr/>
        </p:nvSpPr>
        <p:spPr>
          <a:xfrm>
            <a:off x="685800" y="4617720"/>
            <a:ext cx="10789920" cy="1031051"/>
          </a:xfrm>
          <a:prstGeom prst="rect">
            <a:avLst/>
          </a:prstGeom>
          <a:noFill/>
        </p:spPr>
        <p:txBody>
          <a:bodyPr wrap="square">
            <a:spAutoFit/>
          </a:bodyPr>
          <a:lstStyle/>
          <a:p>
            <a:pPr algn="l">
              <a:spcAft>
                <a:spcPts val="600"/>
              </a:spcAft>
            </a:pPr>
            <a:r>
              <a:rPr sz="1400" b="0" dirty="0">
                <a:solidFill>
                  <a:srgbClr val="F8FAFC"/>
                </a:solidFill>
                <a:latin typeface="Calibri"/>
              </a:rPr>
              <a:t>• Requirement A — GSMA CAMARA APIs via Nokia Network-as-Code: SIM Swap, Number Verification, Location Verification, Device Swap on every sensitive merchant action.</a:t>
            </a:r>
          </a:p>
          <a:p>
            <a:pPr algn="l">
              <a:spcAft>
                <a:spcPts val="600"/>
              </a:spcAft>
            </a:pPr>
            <a:r>
              <a:rPr sz="1400" b="0" dirty="0">
                <a:solidFill>
                  <a:srgbClr val="F8FAFC"/>
                </a:solidFill>
                <a:latin typeface="Calibri"/>
              </a:rPr>
              <a:t>• Requirement B — AI Agent orchestration: Smart Guard calls network tools, fuses risk with financial context, and executes Allow / Step-up / Freeze — not a chatbot caption.</a:t>
            </a:r>
          </a:p>
        </p:txBody>
      </p:sp>
      <p:sp>
        <p:nvSpPr>
          <p:cNvPr id="20" name="TextBox 19"/>
          <p:cNvSpPr txBox="1"/>
          <p:nvPr/>
        </p:nvSpPr>
        <p:spPr>
          <a:xfrm>
            <a:off x="457200" y="6510528"/>
            <a:ext cx="8229600" cy="256032"/>
          </a:xfrm>
          <a:prstGeom prst="rect">
            <a:avLst/>
          </a:prstGeom>
          <a:noFill/>
        </p:spPr>
        <p:txBody>
          <a:bodyPr wrap="square">
            <a:spAutoFit/>
          </a:bodyPr>
          <a:lstStyle/>
          <a:p>
            <a:pPr algn="l"/>
            <a:r>
              <a:rPr sz="1000" b="0">
                <a:solidFill>
                  <a:srgbClr val="94A3B8"/>
                </a:solidFill>
                <a:latin typeface="Calibri"/>
              </a:rPr>
              <a:t>Smart Profits  ·  GSMA MENA Ignite  ·  Theme 4  ·  Nokia Network-as-Code</a:t>
            </a:r>
          </a:p>
        </p:txBody>
      </p:sp>
      <p:sp>
        <p:nvSpPr>
          <p:cNvPr id="21" name="TextBox 20"/>
          <p:cNvSpPr txBox="1"/>
          <p:nvPr/>
        </p:nvSpPr>
        <p:spPr>
          <a:xfrm>
            <a:off x="10424160" y="6510528"/>
            <a:ext cx="1280160" cy="256032"/>
          </a:xfrm>
          <a:prstGeom prst="rect">
            <a:avLst/>
          </a:prstGeom>
          <a:noFill/>
        </p:spPr>
        <p:txBody>
          <a:bodyPr wrap="square">
            <a:spAutoFit/>
          </a:bodyPr>
          <a:lstStyle/>
          <a:p>
            <a:pPr algn="r"/>
            <a:r>
              <a:rPr sz="1000" b="0">
                <a:solidFill>
                  <a:srgbClr val="94A3B8"/>
                </a:solidFill>
                <a:latin typeface="Calibri"/>
              </a:rPr>
              <a:t>03 / 19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56032"/>
            <a:ext cx="10972800" cy="292608"/>
          </a:xfrm>
          <a:prstGeom prst="rect">
            <a:avLst/>
          </a:prstGeom>
          <a:noFill/>
        </p:spPr>
        <p:txBody>
          <a:bodyPr wrap="square">
            <a:spAutoFit/>
          </a:bodyPr>
          <a:lstStyle/>
          <a:p>
            <a:pPr algn="l"/>
            <a:r>
              <a:rPr sz="1100" b="1">
                <a:solidFill>
                  <a:srgbClr val="4FD1C5"/>
                </a:solidFill>
                <a:latin typeface="Calibri"/>
              </a:rPr>
              <a:t>1. PROBLEM STATEMENT</a:t>
            </a:r>
          </a:p>
        </p:txBody>
      </p:sp>
      <p:sp>
        <p:nvSpPr>
          <p:cNvPr id="6" name="TextBox 5"/>
          <p:cNvSpPr txBox="1"/>
          <p:nvPr/>
        </p:nvSpPr>
        <p:spPr>
          <a:xfrm>
            <a:off x="502920" y="530352"/>
            <a:ext cx="11155680" cy="594360"/>
          </a:xfrm>
          <a:prstGeom prst="rect">
            <a:avLst/>
          </a:prstGeom>
          <a:noFill/>
        </p:spPr>
        <p:txBody>
          <a:bodyPr wrap="square">
            <a:spAutoFit/>
          </a:bodyPr>
          <a:lstStyle/>
          <a:p>
            <a:pPr algn="l"/>
            <a:r>
              <a:rPr sz="2600" b="1">
                <a:solidFill>
                  <a:srgbClr val="F8FAFC"/>
                </a:solidFill>
                <a:latin typeface="Calibri"/>
              </a:rPr>
              <a:t>The P&amp;L lives in Excel. So does the fraud.</a:t>
            </a:r>
          </a:p>
        </p:txBody>
      </p:sp>
      <p:sp>
        <p:nvSpPr>
          <p:cNvPr id="7" name="Rounded Rectangle 6"/>
          <p:cNvSpPr/>
          <p:nvPr/>
        </p:nvSpPr>
        <p:spPr>
          <a:xfrm>
            <a:off x="457200" y="1325880"/>
            <a:ext cx="3657600" cy="292608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1453896"/>
            <a:ext cx="3291840" cy="369332"/>
          </a:xfrm>
          <a:prstGeom prst="rect">
            <a:avLst/>
          </a:prstGeom>
          <a:noFill/>
        </p:spPr>
        <p:txBody>
          <a:bodyPr wrap="square">
            <a:spAutoFit/>
          </a:bodyPr>
          <a:lstStyle/>
          <a:p>
            <a:pPr algn="l"/>
            <a:r>
              <a:rPr b="1" dirty="0">
                <a:solidFill>
                  <a:srgbClr val="E8C56B"/>
                </a:solidFill>
                <a:latin typeface="Calibri"/>
              </a:rPr>
              <a:t>Financial blindness</a:t>
            </a:r>
          </a:p>
        </p:txBody>
      </p:sp>
      <p:sp>
        <p:nvSpPr>
          <p:cNvPr id="9" name="TextBox 8"/>
          <p:cNvSpPr txBox="1"/>
          <p:nvPr/>
        </p:nvSpPr>
        <p:spPr>
          <a:xfrm>
            <a:off x="658368" y="1764792"/>
            <a:ext cx="3291840" cy="1169551"/>
          </a:xfrm>
          <a:prstGeom prst="rect">
            <a:avLst/>
          </a:prstGeom>
          <a:noFill/>
        </p:spPr>
        <p:txBody>
          <a:bodyPr wrap="square">
            <a:spAutoFit/>
          </a:bodyPr>
          <a:lstStyle/>
          <a:p>
            <a:pPr algn="l"/>
            <a:r>
              <a:rPr sz="1400" b="0" dirty="0">
                <a:solidFill>
                  <a:srgbClr val="F8FAFC"/>
                </a:solidFill>
                <a:latin typeface="Calibri"/>
              </a:rPr>
              <a:t>Independent MENA merchants use messy Arabic/English Excel, CSV, PDF and photos. Rent, salaries and utilities are missing. Phantom profit looks healthy. There is no CFO.</a:t>
            </a:r>
          </a:p>
        </p:txBody>
      </p:sp>
      <p:sp>
        <p:nvSpPr>
          <p:cNvPr id="10" name="Rounded Rectangle 9"/>
          <p:cNvSpPr/>
          <p:nvPr/>
        </p:nvSpPr>
        <p:spPr>
          <a:xfrm>
            <a:off x="4251960" y="1325880"/>
            <a:ext cx="3657600" cy="292608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53128" y="1453896"/>
            <a:ext cx="3291840" cy="369332"/>
          </a:xfrm>
          <a:prstGeom prst="rect">
            <a:avLst/>
          </a:prstGeom>
          <a:noFill/>
        </p:spPr>
        <p:txBody>
          <a:bodyPr wrap="square">
            <a:spAutoFit/>
          </a:bodyPr>
          <a:lstStyle/>
          <a:p>
            <a:pPr algn="l"/>
            <a:r>
              <a:rPr b="1" dirty="0">
                <a:solidFill>
                  <a:srgbClr val="E8C56B"/>
                </a:solidFill>
                <a:latin typeface="Calibri"/>
              </a:rPr>
              <a:t>Profit leakage</a:t>
            </a:r>
          </a:p>
        </p:txBody>
      </p:sp>
      <p:sp>
        <p:nvSpPr>
          <p:cNvPr id="12" name="TextBox 11"/>
          <p:cNvSpPr txBox="1"/>
          <p:nvPr/>
        </p:nvSpPr>
        <p:spPr>
          <a:xfrm>
            <a:off x="4453128" y="1764792"/>
            <a:ext cx="3291840" cy="954107"/>
          </a:xfrm>
          <a:prstGeom prst="rect">
            <a:avLst/>
          </a:prstGeom>
          <a:noFill/>
        </p:spPr>
        <p:txBody>
          <a:bodyPr wrap="square">
            <a:spAutoFit/>
          </a:bodyPr>
          <a:lstStyle/>
          <a:p>
            <a:pPr algn="l"/>
            <a:r>
              <a:rPr sz="1400" b="0" dirty="0">
                <a:solidFill>
                  <a:srgbClr val="F8FAFC"/>
                </a:solidFill>
                <a:latin typeface="Calibri"/>
              </a:rPr>
              <a:t>Weak SKUs, unexamined margins and unplanned </a:t>
            </a:r>
            <a:r>
              <a:rPr sz="1400" b="0" dirty="0" err="1">
                <a:solidFill>
                  <a:srgbClr val="F8FAFC"/>
                </a:solidFill>
                <a:latin typeface="Calibri"/>
              </a:rPr>
              <a:t>OpEx</a:t>
            </a:r>
            <a:r>
              <a:rPr sz="1400" b="0" dirty="0">
                <a:solidFill>
                  <a:srgbClr val="F8FAFC"/>
                </a:solidFill>
                <a:latin typeface="Calibri"/>
              </a:rPr>
              <a:t> hide real net profit. A ‘good month’ in the sales sheet can still be cash-negative.</a:t>
            </a:r>
          </a:p>
        </p:txBody>
      </p:sp>
      <p:sp>
        <p:nvSpPr>
          <p:cNvPr id="13" name="Rounded Rectangle 12"/>
          <p:cNvSpPr/>
          <p:nvPr/>
        </p:nvSpPr>
        <p:spPr>
          <a:xfrm>
            <a:off x="8046720" y="1325880"/>
            <a:ext cx="3657600" cy="292608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47888" y="1453896"/>
            <a:ext cx="3291840" cy="369332"/>
          </a:xfrm>
          <a:prstGeom prst="rect">
            <a:avLst/>
          </a:prstGeom>
          <a:noFill/>
        </p:spPr>
        <p:txBody>
          <a:bodyPr wrap="square">
            <a:spAutoFit/>
          </a:bodyPr>
          <a:lstStyle/>
          <a:p>
            <a:pPr algn="l"/>
            <a:r>
              <a:rPr b="1" dirty="0">
                <a:solidFill>
                  <a:srgbClr val="E8C56B"/>
                </a:solidFill>
                <a:latin typeface="Calibri"/>
              </a:rPr>
              <a:t>Account takeover</a:t>
            </a:r>
          </a:p>
        </p:txBody>
      </p:sp>
      <p:sp>
        <p:nvSpPr>
          <p:cNvPr id="15" name="TextBox 14"/>
          <p:cNvSpPr txBox="1"/>
          <p:nvPr/>
        </p:nvSpPr>
        <p:spPr>
          <a:xfrm>
            <a:off x="8247888" y="1764792"/>
            <a:ext cx="3291840" cy="954107"/>
          </a:xfrm>
          <a:prstGeom prst="rect">
            <a:avLst/>
          </a:prstGeom>
          <a:noFill/>
        </p:spPr>
        <p:txBody>
          <a:bodyPr wrap="square">
            <a:spAutoFit/>
          </a:bodyPr>
          <a:lstStyle/>
          <a:p>
            <a:pPr algn="l"/>
            <a:r>
              <a:rPr sz="1400" b="0" dirty="0">
                <a:solidFill>
                  <a:srgbClr val="F8FAFC"/>
                </a:solidFill>
                <a:latin typeface="Calibri"/>
              </a:rPr>
              <a:t>SIM swap beats SMS OTP. Attacker opens advisor, downloads P&amp;L, changes prices, exfiltrates sales files. Upload from another country = hijacked session.</a:t>
            </a:r>
          </a:p>
        </p:txBody>
      </p:sp>
      <p:sp>
        <p:nvSpPr>
          <p:cNvPr id="16" name="Rounded Rectangle 15"/>
          <p:cNvSpPr/>
          <p:nvPr/>
        </p:nvSpPr>
        <p:spPr>
          <a:xfrm>
            <a:off x="457200" y="4434840"/>
            <a:ext cx="11247120" cy="160020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4572000"/>
            <a:ext cx="10789920" cy="523220"/>
          </a:xfrm>
          <a:prstGeom prst="rect">
            <a:avLst/>
          </a:prstGeom>
          <a:noFill/>
        </p:spPr>
        <p:txBody>
          <a:bodyPr wrap="square">
            <a:spAutoFit/>
          </a:bodyPr>
          <a:lstStyle/>
          <a:p>
            <a:pPr algn="l"/>
            <a:r>
              <a:rPr sz="1400" b="0" dirty="0">
                <a:solidFill>
                  <a:srgbClr val="F8FAFC"/>
                </a:solidFill>
                <a:latin typeface="Calibri"/>
              </a:rPr>
              <a:t>Theme 4 gap: Banks already buy Open Gateway APIs. The SaaS that holds the merchant’s books usually does not.
Smart Profits closes that gap — financial intelligence and telco-grade identity on the same login.</a:t>
            </a:r>
          </a:p>
        </p:txBody>
      </p:sp>
      <p:sp>
        <p:nvSpPr>
          <p:cNvPr id="18" name="TextBox 17"/>
          <p:cNvSpPr txBox="1"/>
          <p:nvPr/>
        </p:nvSpPr>
        <p:spPr>
          <a:xfrm>
            <a:off x="457200" y="6510528"/>
            <a:ext cx="8229600" cy="256032"/>
          </a:xfrm>
          <a:prstGeom prst="rect">
            <a:avLst/>
          </a:prstGeom>
          <a:noFill/>
        </p:spPr>
        <p:txBody>
          <a:bodyPr wrap="square">
            <a:spAutoFit/>
          </a:bodyPr>
          <a:lstStyle/>
          <a:p>
            <a:pPr algn="l"/>
            <a:r>
              <a:rPr sz="1000" b="0">
                <a:solidFill>
                  <a:srgbClr val="94A3B8"/>
                </a:solidFill>
                <a:latin typeface="Calibri"/>
              </a:rPr>
              <a:t>Smart Profits  ·  GSMA MENA Ignite  ·  Theme 4  ·  Nokia Network-as-Code</a:t>
            </a:r>
          </a:p>
        </p:txBody>
      </p:sp>
      <p:sp>
        <p:nvSpPr>
          <p:cNvPr id="19" name="TextBox 18"/>
          <p:cNvSpPr txBox="1"/>
          <p:nvPr/>
        </p:nvSpPr>
        <p:spPr>
          <a:xfrm>
            <a:off x="10424160" y="6510528"/>
            <a:ext cx="1280160" cy="256032"/>
          </a:xfrm>
          <a:prstGeom prst="rect">
            <a:avLst/>
          </a:prstGeom>
          <a:noFill/>
        </p:spPr>
        <p:txBody>
          <a:bodyPr wrap="square">
            <a:spAutoFit/>
          </a:bodyPr>
          <a:lstStyle/>
          <a:p>
            <a:pPr algn="r"/>
            <a:r>
              <a:rPr sz="1000" b="0">
                <a:solidFill>
                  <a:srgbClr val="94A3B8"/>
                </a:solidFill>
                <a:latin typeface="Calibri"/>
              </a:rPr>
              <a:t>04 / 19</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56032"/>
            <a:ext cx="10972800" cy="292608"/>
          </a:xfrm>
          <a:prstGeom prst="rect">
            <a:avLst/>
          </a:prstGeom>
          <a:noFill/>
        </p:spPr>
        <p:txBody>
          <a:bodyPr wrap="square">
            <a:spAutoFit/>
          </a:bodyPr>
          <a:lstStyle/>
          <a:p>
            <a:pPr algn="l"/>
            <a:r>
              <a:rPr sz="1100" b="1">
                <a:solidFill>
                  <a:srgbClr val="4FD1C5"/>
                </a:solidFill>
                <a:latin typeface="Calibri"/>
              </a:rPr>
              <a:t>2. MARKET &amp; OPPORTUNITY</a:t>
            </a:r>
          </a:p>
        </p:txBody>
      </p:sp>
      <p:sp>
        <p:nvSpPr>
          <p:cNvPr id="6" name="TextBox 5"/>
          <p:cNvSpPr txBox="1"/>
          <p:nvPr/>
        </p:nvSpPr>
        <p:spPr>
          <a:xfrm>
            <a:off x="502920" y="530352"/>
            <a:ext cx="11155680" cy="594360"/>
          </a:xfrm>
          <a:prstGeom prst="rect">
            <a:avLst/>
          </a:prstGeom>
          <a:noFill/>
        </p:spPr>
        <p:txBody>
          <a:bodyPr wrap="square">
            <a:spAutoFit/>
          </a:bodyPr>
          <a:lstStyle/>
          <a:p>
            <a:pPr algn="l"/>
            <a:r>
              <a:rPr sz="2600" b="1">
                <a:solidFill>
                  <a:srgbClr val="F8FAFC"/>
                </a:solidFill>
                <a:latin typeface="Calibri"/>
              </a:rPr>
              <a:t>Why MENA, why now</a:t>
            </a:r>
          </a:p>
        </p:txBody>
      </p:sp>
      <p:sp>
        <p:nvSpPr>
          <p:cNvPr id="7" name="Rounded Rectangle 6"/>
          <p:cNvSpPr/>
          <p:nvPr/>
        </p:nvSpPr>
        <p:spPr>
          <a:xfrm>
            <a:off x="457200" y="1325880"/>
            <a:ext cx="5532120" cy="201168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1453896"/>
            <a:ext cx="5166360" cy="307777"/>
          </a:xfrm>
          <a:prstGeom prst="rect">
            <a:avLst/>
          </a:prstGeom>
          <a:noFill/>
        </p:spPr>
        <p:txBody>
          <a:bodyPr wrap="square">
            <a:spAutoFit/>
          </a:bodyPr>
          <a:lstStyle/>
          <a:p>
            <a:pPr algn="l"/>
            <a:r>
              <a:rPr sz="1400" b="1" dirty="0">
                <a:solidFill>
                  <a:srgbClr val="E8C56B"/>
                </a:solidFill>
                <a:latin typeface="Calibri"/>
              </a:rPr>
              <a:t>Excel-first commerce</a:t>
            </a:r>
          </a:p>
        </p:txBody>
      </p:sp>
      <p:sp>
        <p:nvSpPr>
          <p:cNvPr id="9" name="TextBox 8"/>
          <p:cNvSpPr txBox="1"/>
          <p:nvPr/>
        </p:nvSpPr>
        <p:spPr>
          <a:xfrm>
            <a:off x="658368" y="1764792"/>
            <a:ext cx="5166360" cy="523220"/>
          </a:xfrm>
          <a:prstGeom prst="rect">
            <a:avLst/>
          </a:prstGeom>
          <a:noFill/>
        </p:spPr>
        <p:txBody>
          <a:bodyPr wrap="square">
            <a:spAutoFit/>
          </a:bodyPr>
          <a:lstStyle/>
          <a:p>
            <a:pPr algn="l"/>
            <a:r>
              <a:rPr sz="1400" b="0" dirty="0">
                <a:solidFill>
                  <a:srgbClr val="F8FAFC"/>
                </a:solidFill>
                <a:latin typeface="Calibri"/>
              </a:rPr>
              <a:t>WhatsApp + spreadsheet workflows dominate SME retail. Arabic/English mixed headers are the norm, not the exception.</a:t>
            </a:r>
          </a:p>
        </p:txBody>
      </p:sp>
      <p:sp>
        <p:nvSpPr>
          <p:cNvPr id="10" name="Rounded Rectangle 9"/>
          <p:cNvSpPr/>
          <p:nvPr/>
        </p:nvSpPr>
        <p:spPr>
          <a:xfrm>
            <a:off x="6309360" y="1325880"/>
            <a:ext cx="5532120" cy="201168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10528" y="1453896"/>
            <a:ext cx="5166360" cy="307777"/>
          </a:xfrm>
          <a:prstGeom prst="rect">
            <a:avLst/>
          </a:prstGeom>
          <a:noFill/>
        </p:spPr>
        <p:txBody>
          <a:bodyPr wrap="square">
            <a:spAutoFit/>
          </a:bodyPr>
          <a:lstStyle/>
          <a:p>
            <a:pPr algn="l"/>
            <a:r>
              <a:rPr sz="1400" b="1" dirty="0">
                <a:solidFill>
                  <a:srgbClr val="E8C56B"/>
                </a:solidFill>
                <a:latin typeface="Calibri"/>
              </a:rPr>
              <a:t>SIM-swap fraud</a:t>
            </a:r>
          </a:p>
        </p:txBody>
      </p:sp>
      <p:sp>
        <p:nvSpPr>
          <p:cNvPr id="12" name="TextBox 11"/>
          <p:cNvSpPr txBox="1"/>
          <p:nvPr/>
        </p:nvSpPr>
        <p:spPr>
          <a:xfrm>
            <a:off x="6510528" y="1764792"/>
            <a:ext cx="5166360" cy="523220"/>
          </a:xfrm>
          <a:prstGeom prst="rect">
            <a:avLst/>
          </a:prstGeom>
          <a:noFill/>
        </p:spPr>
        <p:txBody>
          <a:bodyPr wrap="square">
            <a:spAutoFit/>
          </a:bodyPr>
          <a:lstStyle/>
          <a:p>
            <a:pPr algn="l"/>
            <a:r>
              <a:rPr sz="1400" b="0" dirty="0">
                <a:solidFill>
                  <a:srgbClr val="F8FAFC"/>
                </a:solidFill>
                <a:latin typeface="Calibri"/>
              </a:rPr>
              <a:t>OTP hijacking is a documented FinTech risk. Network verification beats SMS that can be intercepted after a swap.</a:t>
            </a:r>
          </a:p>
        </p:txBody>
      </p:sp>
      <p:sp>
        <p:nvSpPr>
          <p:cNvPr id="13" name="Rounded Rectangle 12"/>
          <p:cNvSpPr/>
          <p:nvPr/>
        </p:nvSpPr>
        <p:spPr>
          <a:xfrm>
            <a:off x="457200" y="3566160"/>
            <a:ext cx="5532120" cy="201168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4" name="TextBox 13"/>
          <p:cNvSpPr txBox="1"/>
          <p:nvPr/>
        </p:nvSpPr>
        <p:spPr>
          <a:xfrm>
            <a:off x="658368" y="3694176"/>
            <a:ext cx="5166360" cy="307777"/>
          </a:xfrm>
          <a:prstGeom prst="rect">
            <a:avLst/>
          </a:prstGeom>
          <a:noFill/>
        </p:spPr>
        <p:txBody>
          <a:bodyPr wrap="square">
            <a:spAutoFit/>
          </a:bodyPr>
          <a:lstStyle/>
          <a:p>
            <a:pPr algn="l"/>
            <a:r>
              <a:rPr sz="1400" b="1" dirty="0">
                <a:solidFill>
                  <a:srgbClr val="E8C56B"/>
                </a:solidFill>
                <a:latin typeface="Calibri"/>
              </a:rPr>
              <a:t>Open Gateway moment</a:t>
            </a:r>
          </a:p>
        </p:txBody>
      </p:sp>
      <p:sp>
        <p:nvSpPr>
          <p:cNvPr id="15" name="TextBox 14"/>
          <p:cNvSpPr txBox="1"/>
          <p:nvPr/>
        </p:nvSpPr>
        <p:spPr>
          <a:xfrm>
            <a:off x="658368" y="4005072"/>
            <a:ext cx="5166360" cy="738664"/>
          </a:xfrm>
          <a:prstGeom prst="rect">
            <a:avLst/>
          </a:prstGeom>
          <a:noFill/>
        </p:spPr>
        <p:txBody>
          <a:bodyPr wrap="square">
            <a:spAutoFit/>
          </a:bodyPr>
          <a:lstStyle/>
          <a:p>
            <a:pPr algn="l"/>
            <a:r>
              <a:rPr sz="1400" b="0" dirty="0">
                <a:solidFill>
                  <a:srgbClr val="F8FAFC"/>
                </a:solidFill>
                <a:latin typeface="Calibri"/>
              </a:rPr>
              <a:t>GSMA CAMARA </a:t>
            </a:r>
            <a:r>
              <a:rPr sz="1400" b="0" dirty="0" err="1">
                <a:solidFill>
                  <a:srgbClr val="F8FAFC"/>
                </a:solidFill>
                <a:latin typeface="Calibri"/>
              </a:rPr>
              <a:t>standardises</a:t>
            </a:r>
            <a:r>
              <a:rPr sz="1400" b="0" dirty="0">
                <a:solidFill>
                  <a:srgbClr val="F8FAFC"/>
                </a:solidFill>
                <a:latin typeface="Calibri"/>
              </a:rPr>
              <a:t> operator APIs. Nokia Network-as-Code gives developers one path — Smart Profits is a reference FinTech consumer.</a:t>
            </a:r>
          </a:p>
        </p:txBody>
      </p:sp>
      <p:sp>
        <p:nvSpPr>
          <p:cNvPr id="16" name="Rounded Rectangle 15"/>
          <p:cNvSpPr/>
          <p:nvPr/>
        </p:nvSpPr>
        <p:spPr>
          <a:xfrm>
            <a:off x="6309360" y="3566160"/>
            <a:ext cx="5532120" cy="201168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7" name="TextBox 16"/>
          <p:cNvSpPr txBox="1"/>
          <p:nvPr/>
        </p:nvSpPr>
        <p:spPr>
          <a:xfrm>
            <a:off x="6510528" y="3694176"/>
            <a:ext cx="5166360" cy="307777"/>
          </a:xfrm>
          <a:prstGeom prst="rect">
            <a:avLst/>
          </a:prstGeom>
          <a:noFill/>
        </p:spPr>
        <p:txBody>
          <a:bodyPr wrap="square">
            <a:spAutoFit/>
          </a:bodyPr>
          <a:lstStyle/>
          <a:p>
            <a:pPr algn="l"/>
            <a:r>
              <a:rPr sz="1400" b="1" dirty="0">
                <a:solidFill>
                  <a:srgbClr val="E8C56B"/>
                </a:solidFill>
                <a:latin typeface="Calibri"/>
              </a:rPr>
              <a:t>Operator B2B2X</a:t>
            </a:r>
          </a:p>
        </p:txBody>
      </p:sp>
      <p:sp>
        <p:nvSpPr>
          <p:cNvPr id="18" name="TextBox 17"/>
          <p:cNvSpPr txBox="1"/>
          <p:nvPr/>
        </p:nvSpPr>
        <p:spPr>
          <a:xfrm>
            <a:off x="6510528" y="4005072"/>
            <a:ext cx="5166360" cy="523220"/>
          </a:xfrm>
          <a:prstGeom prst="rect">
            <a:avLst/>
          </a:prstGeom>
          <a:noFill/>
        </p:spPr>
        <p:txBody>
          <a:bodyPr wrap="square">
            <a:spAutoFit/>
          </a:bodyPr>
          <a:lstStyle/>
          <a:p>
            <a:pPr algn="l"/>
            <a:r>
              <a:rPr sz="1400" b="0" dirty="0">
                <a:solidFill>
                  <a:srgbClr val="F8FAFC"/>
                </a:solidFill>
                <a:latin typeface="Calibri"/>
              </a:rPr>
              <a:t>Every secured login, upload and export is a billable CAMARA event — SaaS revenue for us, API usage for operators.</a:t>
            </a:r>
          </a:p>
        </p:txBody>
      </p:sp>
      <p:sp>
        <p:nvSpPr>
          <p:cNvPr id="19" name="TextBox 18"/>
          <p:cNvSpPr txBox="1"/>
          <p:nvPr/>
        </p:nvSpPr>
        <p:spPr>
          <a:xfrm>
            <a:off x="457200" y="6510528"/>
            <a:ext cx="8229600" cy="256032"/>
          </a:xfrm>
          <a:prstGeom prst="rect">
            <a:avLst/>
          </a:prstGeom>
          <a:noFill/>
        </p:spPr>
        <p:txBody>
          <a:bodyPr wrap="square">
            <a:spAutoFit/>
          </a:bodyPr>
          <a:lstStyle/>
          <a:p>
            <a:pPr algn="l"/>
            <a:r>
              <a:rPr sz="1000" b="0">
                <a:solidFill>
                  <a:srgbClr val="94A3B8"/>
                </a:solidFill>
                <a:latin typeface="Calibri"/>
              </a:rPr>
              <a:t>Smart Profits  ·  GSMA MENA Ignite  ·  Theme 4  ·  Nokia Network-as-Code</a:t>
            </a:r>
          </a:p>
        </p:txBody>
      </p:sp>
      <p:sp>
        <p:nvSpPr>
          <p:cNvPr id="20" name="TextBox 19"/>
          <p:cNvSpPr txBox="1"/>
          <p:nvPr/>
        </p:nvSpPr>
        <p:spPr>
          <a:xfrm>
            <a:off x="10424160" y="6510528"/>
            <a:ext cx="1280160" cy="256032"/>
          </a:xfrm>
          <a:prstGeom prst="rect">
            <a:avLst/>
          </a:prstGeom>
          <a:noFill/>
        </p:spPr>
        <p:txBody>
          <a:bodyPr wrap="square">
            <a:spAutoFit/>
          </a:bodyPr>
          <a:lstStyle/>
          <a:p>
            <a:pPr algn="r"/>
            <a:r>
              <a:rPr sz="1000" b="0">
                <a:solidFill>
                  <a:srgbClr val="94A3B8"/>
                </a:solidFill>
                <a:latin typeface="Calibri"/>
              </a:rPr>
              <a:t>05 / 19</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56032"/>
            <a:ext cx="10972800" cy="292608"/>
          </a:xfrm>
          <a:prstGeom prst="rect">
            <a:avLst/>
          </a:prstGeom>
          <a:noFill/>
        </p:spPr>
        <p:txBody>
          <a:bodyPr wrap="square">
            <a:spAutoFit/>
          </a:bodyPr>
          <a:lstStyle/>
          <a:p>
            <a:pPr algn="l"/>
            <a:r>
              <a:rPr sz="1100" b="1">
                <a:solidFill>
                  <a:srgbClr val="4FD1C5"/>
                </a:solidFill>
                <a:latin typeface="Calibri"/>
              </a:rPr>
              <a:t>3. SOLUTION OVERVIEW</a:t>
            </a:r>
          </a:p>
        </p:txBody>
      </p:sp>
      <p:sp>
        <p:nvSpPr>
          <p:cNvPr id="6" name="TextBox 5"/>
          <p:cNvSpPr txBox="1"/>
          <p:nvPr/>
        </p:nvSpPr>
        <p:spPr>
          <a:xfrm>
            <a:off x="502920" y="530352"/>
            <a:ext cx="11155680" cy="594360"/>
          </a:xfrm>
          <a:prstGeom prst="rect">
            <a:avLst/>
          </a:prstGeom>
          <a:noFill/>
        </p:spPr>
        <p:txBody>
          <a:bodyPr wrap="square">
            <a:spAutoFit/>
          </a:bodyPr>
          <a:lstStyle/>
          <a:p>
            <a:pPr algn="l"/>
            <a:r>
              <a:rPr sz="2600" b="1">
                <a:solidFill>
                  <a:srgbClr val="F8FAFC"/>
                </a:solidFill>
                <a:latin typeface="Calibri"/>
              </a:rPr>
              <a:t>One platform. Two brains. Network-secured decisions.</a:t>
            </a:r>
          </a:p>
        </p:txBody>
      </p:sp>
      <p:sp>
        <p:nvSpPr>
          <p:cNvPr id="7" name="Rounded Rectangle 6"/>
          <p:cNvSpPr/>
          <p:nvPr/>
        </p:nvSpPr>
        <p:spPr>
          <a:xfrm>
            <a:off x="457200" y="1325880"/>
            <a:ext cx="5532120" cy="182880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1453896"/>
            <a:ext cx="5166360" cy="307777"/>
          </a:xfrm>
          <a:prstGeom prst="rect">
            <a:avLst/>
          </a:prstGeom>
          <a:noFill/>
        </p:spPr>
        <p:txBody>
          <a:bodyPr wrap="square">
            <a:spAutoFit/>
          </a:bodyPr>
          <a:lstStyle/>
          <a:p>
            <a:pPr algn="l"/>
            <a:r>
              <a:rPr sz="1400" b="1" dirty="0">
                <a:solidFill>
                  <a:srgbClr val="E8C56B"/>
                </a:solidFill>
                <a:latin typeface="Calibri"/>
              </a:rPr>
              <a:t>Financial AI engine</a:t>
            </a:r>
          </a:p>
        </p:txBody>
      </p:sp>
      <p:sp>
        <p:nvSpPr>
          <p:cNvPr id="9" name="TextBox 8"/>
          <p:cNvSpPr txBox="1"/>
          <p:nvPr/>
        </p:nvSpPr>
        <p:spPr>
          <a:xfrm>
            <a:off x="658368" y="1764792"/>
            <a:ext cx="5166360" cy="738664"/>
          </a:xfrm>
          <a:prstGeom prst="rect">
            <a:avLst/>
          </a:prstGeom>
          <a:noFill/>
        </p:spPr>
        <p:txBody>
          <a:bodyPr wrap="square">
            <a:spAutoFit/>
          </a:bodyPr>
          <a:lstStyle/>
          <a:p>
            <a:pPr algn="l"/>
            <a:r>
              <a:rPr sz="1400" b="0" dirty="0">
                <a:solidFill>
                  <a:srgbClr val="F8FAFC"/>
                </a:solidFill>
                <a:latin typeface="Calibri"/>
              </a:rPr>
              <a:t>Cleans messy Excel/CSV/PDF. Diagnoses store health, profit leaks, inventory, 30-day plan. File-grounded Q&amp;A in Arabic or English. </a:t>
            </a:r>
            <a:r>
              <a:rPr sz="1400" b="0" dirty="0" err="1">
                <a:solidFill>
                  <a:srgbClr val="F8FAFC"/>
                </a:solidFill>
                <a:latin typeface="Calibri"/>
              </a:rPr>
              <a:t>OpEx</a:t>
            </a:r>
            <a:r>
              <a:rPr sz="1400" b="0" dirty="0">
                <a:solidFill>
                  <a:srgbClr val="F8FAFC"/>
                </a:solidFill>
                <a:latin typeface="Calibri"/>
              </a:rPr>
              <a:t>-aware net profit — not phantom revenue.</a:t>
            </a:r>
          </a:p>
        </p:txBody>
      </p:sp>
      <p:sp>
        <p:nvSpPr>
          <p:cNvPr id="10" name="Rounded Rectangle 9"/>
          <p:cNvSpPr/>
          <p:nvPr/>
        </p:nvSpPr>
        <p:spPr>
          <a:xfrm>
            <a:off x="6172200" y="1325880"/>
            <a:ext cx="5532120" cy="182880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73368" y="1453896"/>
            <a:ext cx="5166360" cy="307777"/>
          </a:xfrm>
          <a:prstGeom prst="rect">
            <a:avLst/>
          </a:prstGeom>
          <a:noFill/>
        </p:spPr>
        <p:txBody>
          <a:bodyPr wrap="square">
            <a:spAutoFit/>
          </a:bodyPr>
          <a:lstStyle/>
          <a:p>
            <a:pPr algn="l"/>
            <a:r>
              <a:rPr sz="1400" b="1" dirty="0">
                <a:solidFill>
                  <a:srgbClr val="E8C56B"/>
                </a:solidFill>
                <a:latin typeface="Calibri"/>
              </a:rPr>
              <a:t>Smart Guard AI Agent</a:t>
            </a:r>
          </a:p>
        </p:txBody>
      </p:sp>
      <p:sp>
        <p:nvSpPr>
          <p:cNvPr id="12" name="TextBox 11"/>
          <p:cNvSpPr txBox="1"/>
          <p:nvPr/>
        </p:nvSpPr>
        <p:spPr>
          <a:xfrm>
            <a:off x="6373368" y="1764792"/>
            <a:ext cx="5166360" cy="738664"/>
          </a:xfrm>
          <a:prstGeom prst="rect">
            <a:avLst/>
          </a:prstGeom>
          <a:noFill/>
        </p:spPr>
        <p:txBody>
          <a:bodyPr wrap="square">
            <a:spAutoFit/>
          </a:bodyPr>
          <a:lstStyle/>
          <a:p>
            <a:pPr algn="l"/>
            <a:r>
              <a:rPr sz="1400" b="0" dirty="0">
                <a:solidFill>
                  <a:srgbClr val="F8FAFC"/>
                </a:solidFill>
                <a:latin typeface="Calibri"/>
              </a:rPr>
              <a:t>Orchestrates Nokia </a:t>
            </a:r>
            <a:r>
              <a:rPr sz="1400" b="0" dirty="0" err="1">
                <a:solidFill>
                  <a:srgbClr val="F8FAFC"/>
                </a:solidFill>
                <a:latin typeface="Calibri"/>
              </a:rPr>
              <a:t>NaC</a:t>
            </a:r>
            <a:r>
              <a:rPr sz="1400" b="0" dirty="0">
                <a:solidFill>
                  <a:srgbClr val="F8FAFC"/>
                </a:solidFill>
                <a:latin typeface="Calibri"/>
              </a:rPr>
              <a:t> CAMARA calls on login, reset, upload, export, price change. Outputs Allow · Step-up · Freeze. Explains decisions to the merchant in AR/EN.</a:t>
            </a:r>
          </a:p>
        </p:txBody>
      </p:sp>
      <p:sp>
        <p:nvSpPr>
          <p:cNvPr id="13" name="Rounded Rectangle 12"/>
          <p:cNvSpPr/>
          <p:nvPr/>
        </p:nvSpPr>
        <p:spPr>
          <a:xfrm>
            <a:off x="457200" y="3337560"/>
            <a:ext cx="11247120" cy="260604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4" name="TextBox 13"/>
          <p:cNvSpPr txBox="1"/>
          <p:nvPr/>
        </p:nvSpPr>
        <p:spPr>
          <a:xfrm>
            <a:off x="685800" y="3484147"/>
            <a:ext cx="10972800" cy="307777"/>
          </a:xfrm>
          <a:prstGeom prst="rect">
            <a:avLst/>
          </a:prstGeom>
          <a:noFill/>
        </p:spPr>
        <p:txBody>
          <a:bodyPr wrap="square">
            <a:spAutoFit/>
          </a:bodyPr>
          <a:lstStyle/>
          <a:p>
            <a:pPr algn="l"/>
            <a:r>
              <a:rPr sz="1400" b="1" dirty="0">
                <a:solidFill>
                  <a:srgbClr val="E8C56B"/>
                </a:solidFill>
                <a:latin typeface="Calibri"/>
              </a:rPr>
              <a:t>Sensitive actions protected by Smart Guard</a:t>
            </a:r>
          </a:p>
        </p:txBody>
      </p:sp>
      <p:sp>
        <p:nvSpPr>
          <p:cNvPr id="15" name="TextBox 14"/>
          <p:cNvSpPr txBox="1"/>
          <p:nvPr/>
        </p:nvSpPr>
        <p:spPr>
          <a:xfrm>
            <a:off x="685800" y="3840480"/>
            <a:ext cx="10789920" cy="307777"/>
          </a:xfrm>
          <a:prstGeom prst="rect">
            <a:avLst/>
          </a:prstGeom>
          <a:noFill/>
        </p:spPr>
        <p:txBody>
          <a:bodyPr wrap="square">
            <a:spAutoFit/>
          </a:bodyPr>
          <a:lstStyle/>
          <a:p>
            <a:pPr algn="l"/>
            <a:r>
              <a:rPr sz="1400" b="1">
                <a:solidFill>
                  <a:srgbClr val="4FD1C5"/>
                </a:solidFill>
                <a:latin typeface="Calibri"/>
              </a:rPr>
              <a:t>Register  ·  Login  ·  Password reset  ·  Excel/CSV/PDF upload  ·  P&amp;L export  ·  Price / settings change</a:t>
            </a:r>
          </a:p>
        </p:txBody>
      </p:sp>
      <p:sp>
        <p:nvSpPr>
          <p:cNvPr id="16" name="TextBox 15"/>
          <p:cNvSpPr txBox="1"/>
          <p:nvPr/>
        </p:nvSpPr>
        <p:spPr>
          <a:xfrm>
            <a:off x="685800" y="4343400"/>
            <a:ext cx="10789920" cy="954107"/>
          </a:xfrm>
          <a:prstGeom prst="rect">
            <a:avLst/>
          </a:prstGeom>
          <a:noFill/>
        </p:spPr>
        <p:txBody>
          <a:bodyPr wrap="square">
            <a:spAutoFit/>
          </a:bodyPr>
          <a:lstStyle/>
          <a:p>
            <a:pPr algn="l"/>
            <a:r>
              <a:rPr sz="1400" b="0" dirty="0">
                <a:solidFill>
                  <a:srgbClr val="F8FAFC"/>
                </a:solidFill>
                <a:latin typeface="Calibri"/>
              </a:rPr>
              <a:t>Positioning: Not a generic Excel AI. A FinTech control plane for SMEs — using 4G/5G CAMARA signals the way banks do, on the merchant’s own books.
Silent Authentication on the clean path (Number Verification on the network). Friction only when risk is real. No sensitive action completes unless Smart Guard runs the network + financial-risk loop.</a:t>
            </a:r>
          </a:p>
        </p:txBody>
      </p:sp>
      <p:sp>
        <p:nvSpPr>
          <p:cNvPr id="17" name="TextBox 16"/>
          <p:cNvSpPr txBox="1"/>
          <p:nvPr/>
        </p:nvSpPr>
        <p:spPr>
          <a:xfrm>
            <a:off x="457200" y="6510528"/>
            <a:ext cx="8229600" cy="256032"/>
          </a:xfrm>
          <a:prstGeom prst="rect">
            <a:avLst/>
          </a:prstGeom>
          <a:noFill/>
        </p:spPr>
        <p:txBody>
          <a:bodyPr wrap="square">
            <a:spAutoFit/>
          </a:bodyPr>
          <a:lstStyle/>
          <a:p>
            <a:pPr algn="l"/>
            <a:r>
              <a:rPr sz="1000" b="0">
                <a:solidFill>
                  <a:srgbClr val="94A3B8"/>
                </a:solidFill>
                <a:latin typeface="Calibri"/>
              </a:rPr>
              <a:t>Smart Profits  ·  GSMA MENA Ignite  ·  Theme 4  ·  Nokia Network-as-Code</a:t>
            </a:r>
          </a:p>
        </p:txBody>
      </p:sp>
      <p:sp>
        <p:nvSpPr>
          <p:cNvPr id="18" name="TextBox 17"/>
          <p:cNvSpPr txBox="1"/>
          <p:nvPr/>
        </p:nvSpPr>
        <p:spPr>
          <a:xfrm>
            <a:off x="10424160" y="6510528"/>
            <a:ext cx="1280160" cy="256032"/>
          </a:xfrm>
          <a:prstGeom prst="rect">
            <a:avLst/>
          </a:prstGeom>
          <a:noFill/>
        </p:spPr>
        <p:txBody>
          <a:bodyPr wrap="square">
            <a:spAutoFit/>
          </a:bodyPr>
          <a:lstStyle/>
          <a:p>
            <a:pPr algn="r"/>
            <a:r>
              <a:rPr sz="1000" b="0">
                <a:solidFill>
                  <a:srgbClr val="94A3B8"/>
                </a:solidFill>
                <a:latin typeface="Calibri"/>
              </a:rPr>
              <a:t>06 / 19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56032"/>
            <a:ext cx="10972800" cy="292608"/>
          </a:xfrm>
          <a:prstGeom prst="rect">
            <a:avLst/>
          </a:prstGeom>
          <a:noFill/>
        </p:spPr>
        <p:txBody>
          <a:bodyPr wrap="square">
            <a:spAutoFit/>
          </a:bodyPr>
          <a:lstStyle/>
          <a:p>
            <a:pPr algn="l"/>
            <a:r>
              <a:rPr sz="1100" b="1">
                <a:solidFill>
                  <a:srgbClr val="4FD1C5"/>
                </a:solidFill>
                <a:latin typeface="Calibri"/>
              </a:rPr>
              <a:t>4. MANDATORY HACKATHON REQUIREMENTS</a:t>
            </a:r>
          </a:p>
        </p:txBody>
      </p:sp>
      <p:sp>
        <p:nvSpPr>
          <p:cNvPr id="6" name="TextBox 5"/>
          <p:cNvSpPr txBox="1"/>
          <p:nvPr/>
        </p:nvSpPr>
        <p:spPr>
          <a:xfrm>
            <a:off x="502920" y="530352"/>
            <a:ext cx="11155680" cy="594360"/>
          </a:xfrm>
          <a:prstGeom prst="rect">
            <a:avLst/>
          </a:prstGeom>
          <a:noFill/>
        </p:spPr>
        <p:txBody>
          <a:bodyPr wrap="square">
            <a:spAutoFit/>
          </a:bodyPr>
          <a:lstStyle/>
          <a:p>
            <a:pPr algn="l"/>
            <a:r>
              <a:rPr sz="2600" b="1">
                <a:solidFill>
                  <a:srgbClr val="F8FAFC"/>
                </a:solidFill>
                <a:latin typeface="Calibri"/>
              </a:rPr>
              <a:t>Both compulsory building blocks — implemented, not slideware</a:t>
            </a:r>
          </a:p>
        </p:txBody>
      </p:sp>
      <p:graphicFrame>
        <p:nvGraphicFramePr>
          <p:cNvPr id="7" name="Table 6"/>
          <p:cNvGraphicFramePr>
            <a:graphicFrameLocks noGrp="1"/>
          </p:cNvGraphicFramePr>
          <p:nvPr>
            <p:extLst>
              <p:ext uri="{D42A27DB-BD31-4B8C-83A1-F6EECF244321}">
                <p14:modId xmlns:p14="http://schemas.microsoft.com/office/powerpoint/2010/main" val="652818962"/>
              </p:ext>
            </p:extLst>
          </p:nvPr>
        </p:nvGraphicFramePr>
        <p:xfrm>
          <a:off x="457200" y="1417320"/>
          <a:ext cx="11247120" cy="260604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651510">
                <a:tc>
                  <a:txBody>
                    <a:bodyPr/>
                    <a:lstStyle/>
                    <a:p>
                      <a:r>
                        <a:rPr sz="1400" b="1" dirty="0">
                          <a:solidFill>
                            <a:srgbClr val="4FD1C5"/>
                          </a:solidFill>
                          <a:latin typeface="Calibri"/>
                        </a:rPr>
                        <a:t>Requirement</a:t>
                      </a:r>
                    </a:p>
                  </a:txBody>
                  <a:tcPr>
                    <a:solidFill>
                      <a:srgbClr val="0B1120"/>
                    </a:solidFill>
                  </a:tcPr>
                </a:tc>
                <a:tc>
                  <a:txBody>
                    <a:bodyPr/>
                    <a:lstStyle/>
                    <a:p>
                      <a:r>
                        <a:rPr sz="1400" b="1">
                          <a:solidFill>
                            <a:srgbClr val="4FD1C5"/>
                          </a:solidFill>
                          <a:latin typeface="Calibri"/>
                        </a:rPr>
                        <a:t>Implementation in Smart Profits</a:t>
                      </a:r>
                    </a:p>
                  </a:txBody>
                  <a:tcPr>
                    <a:solidFill>
                      <a:srgbClr val="0B1120"/>
                    </a:solidFill>
                  </a:tcPr>
                </a:tc>
                <a:tc>
                  <a:txBody>
                    <a:bodyPr/>
                    <a:lstStyle/>
                    <a:p>
                      <a:r>
                        <a:rPr sz="1400" b="1">
                          <a:solidFill>
                            <a:srgbClr val="4FD1C5"/>
                          </a:solidFill>
                          <a:latin typeface="Calibri"/>
                        </a:rPr>
                        <a:t>Evidence</a:t>
                      </a:r>
                    </a:p>
                  </a:txBody>
                  <a:tcPr>
                    <a:solidFill>
                      <a:srgbClr val="0B1120"/>
                    </a:solidFill>
                  </a:tcPr>
                </a:tc>
                <a:extLst>
                  <a:ext uri="{0D108BD9-81ED-4DB2-BD59-A6C34878D82A}">
                    <a16:rowId xmlns:a16="http://schemas.microsoft.com/office/drawing/2014/main" val="10000"/>
                  </a:ext>
                </a:extLst>
              </a:tr>
              <a:tr h="651510">
                <a:tc>
                  <a:txBody>
                    <a:bodyPr/>
                    <a:lstStyle/>
                    <a:p>
                      <a:r>
                        <a:rPr sz="1400" b="1" dirty="0">
                          <a:solidFill>
                            <a:srgbClr val="4FD1C5"/>
                          </a:solidFill>
                          <a:latin typeface="Calibri"/>
                        </a:rPr>
                        <a:t>A — CAMARA via Nokia </a:t>
                      </a:r>
                      <a:r>
                        <a:rPr sz="1400" b="1" dirty="0" err="1">
                          <a:solidFill>
                            <a:srgbClr val="4FD1C5"/>
                          </a:solidFill>
                          <a:latin typeface="Calibri"/>
                        </a:rPr>
                        <a:t>NaC</a:t>
                      </a:r>
                      <a:endParaRPr sz="1400" b="1" dirty="0">
                        <a:solidFill>
                          <a:srgbClr val="4FD1C5"/>
                        </a:solidFill>
                        <a:latin typeface="Calibri"/>
                      </a:endParaRPr>
                    </a:p>
                  </a:txBody>
                  <a:tcPr>
                    <a:solidFill>
                      <a:srgbClr val="162136"/>
                    </a:solidFill>
                  </a:tcPr>
                </a:tc>
                <a:tc>
                  <a:txBody>
                    <a:bodyPr/>
                    <a:lstStyle/>
                    <a:p>
                      <a:r>
                        <a:rPr sz="1400" b="0">
                          <a:solidFill>
                            <a:srgbClr val="F8FAFC"/>
                          </a:solidFill>
                          <a:latin typeface="Calibri"/>
                        </a:rPr>
                        <a:t>SIM Swap, Number Verification, Location Verification, Device Swap via RapidAPI passthrough paths</a:t>
                      </a:r>
                    </a:p>
                  </a:txBody>
                  <a:tcPr>
                    <a:solidFill>
                      <a:srgbClr val="162136"/>
                    </a:solidFill>
                  </a:tcPr>
                </a:tc>
                <a:tc>
                  <a:txBody>
                    <a:bodyPr/>
                    <a:lstStyle/>
                    <a:p>
                      <a:r>
                        <a:rPr sz="1400" b="0">
                          <a:solidFill>
                            <a:srgbClr val="F8FAFC"/>
                          </a:solidFill>
                          <a:latin typeface="Calibri"/>
                        </a:rPr>
                        <a:t>Live logs: [nac-live] provider=Nokia transport=RapidAPI status=200</a:t>
                      </a:r>
                    </a:p>
                  </a:txBody>
                  <a:tcPr>
                    <a:solidFill>
                      <a:srgbClr val="162136"/>
                    </a:solidFill>
                  </a:tcPr>
                </a:tc>
                <a:extLst>
                  <a:ext uri="{0D108BD9-81ED-4DB2-BD59-A6C34878D82A}">
                    <a16:rowId xmlns:a16="http://schemas.microsoft.com/office/drawing/2014/main" val="10001"/>
                  </a:ext>
                </a:extLst>
              </a:tr>
              <a:tr h="651510">
                <a:tc>
                  <a:txBody>
                    <a:bodyPr/>
                    <a:lstStyle/>
                    <a:p>
                      <a:r>
                        <a:rPr sz="1400" b="1" dirty="0">
                          <a:solidFill>
                            <a:srgbClr val="4FD1C5"/>
                          </a:solidFill>
                          <a:latin typeface="Calibri"/>
                        </a:rPr>
                        <a:t>B — AI Agent orchestration</a:t>
                      </a:r>
                    </a:p>
                  </a:txBody>
                  <a:tcPr>
                    <a:solidFill>
                      <a:srgbClr val="141C30"/>
                    </a:solidFill>
                  </a:tcPr>
                </a:tc>
                <a:tc>
                  <a:txBody>
                    <a:bodyPr/>
                    <a:lstStyle/>
                    <a:p>
                      <a:r>
                        <a:rPr sz="1400" b="0" dirty="0">
                          <a:solidFill>
                            <a:srgbClr val="F8FAFC"/>
                          </a:solidFill>
                          <a:latin typeface="Calibri"/>
                        </a:rPr>
                        <a:t>Smart Guard Agent: tool-calling loop → </a:t>
                      </a:r>
                      <a:r>
                        <a:rPr sz="1400" b="0" dirty="0" err="1">
                          <a:solidFill>
                            <a:srgbClr val="F8FAFC"/>
                          </a:solidFill>
                          <a:latin typeface="Calibri"/>
                        </a:rPr>
                        <a:t>policy.ts</a:t>
                      </a:r>
                      <a:r>
                        <a:rPr sz="1400" b="0" dirty="0">
                          <a:solidFill>
                            <a:srgbClr val="F8FAFC"/>
                          </a:solidFill>
                          <a:latin typeface="Calibri"/>
                        </a:rPr>
                        <a:t> → Allow / Step-up / Freeze</a:t>
                      </a:r>
                    </a:p>
                  </a:txBody>
                  <a:tcPr>
                    <a:solidFill>
                      <a:srgbClr val="141C30"/>
                    </a:solidFill>
                  </a:tcPr>
                </a:tc>
                <a:tc>
                  <a:txBody>
                    <a:bodyPr/>
                    <a:lstStyle/>
                    <a:p>
                      <a:r>
                        <a:rPr sz="1400" b="0">
                          <a:solidFill>
                            <a:srgbClr val="F8FAFC"/>
                          </a:solidFill>
                          <a:latin typeface="Calibri"/>
                        </a:rPr>
                        <a:t>Server-side enforce.ts blocks API until decision=allow</a:t>
                      </a:r>
                    </a:p>
                  </a:txBody>
                  <a:tcPr>
                    <a:solidFill>
                      <a:srgbClr val="141C30"/>
                    </a:solidFill>
                  </a:tcPr>
                </a:tc>
                <a:extLst>
                  <a:ext uri="{0D108BD9-81ED-4DB2-BD59-A6C34878D82A}">
                    <a16:rowId xmlns:a16="http://schemas.microsoft.com/office/drawing/2014/main" val="10002"/>
                  </a:ext>
                </a:extLst>
              </a:tr>
              <a:tr h="651510">
                <a:tc>
                  <a:txBody>
                    <a:bodyPr/>
                    <a:lstStyle/>
                    <a:p>
                      <a:r>
                        <a:rPr sz="1400" b="1">
                          <a:solidFill>
                            <a:srgbClr val="4FD1C5"/>
                          </a:solidFill>
                          <a:latin typeface="Calibri"/>
                        </a:rPr>
                        <a:t>Theme 4 — FinTech anti-fraud</a:t>
                      </a:r>
                    </a:p>
                  </a:txBody>
                  <a:tcPr>
                    <a:solidFill>
                      <a:srgbClr val="162136"/>
                    </a:solidFill>
                  </a:tcPr>
                </a:tc>
                <a:tc>
                  <a:txBody>
                    <a:bodyPr/>
                    <a:lstStyle/>
                    <a:p>
                      <a:r>
                        <a:rPr sz="1400" b="0" dirty="0">
                          <a:solidFill>
                            <a:srgbClr val="F8FAFC"/>
                          </a:solidFill>
                          <a:latin typeface="Calibri"/>
                        </a:rPr>
                        <a:t>Freeze on swap; step-up on NV/location gaps; block upload outside store geofence</a:t>
                      </a:r>
                    </a:p>
                  </a:txBody>
                  <a:tcPr>
                    <a:solidFill>
                      <a:srgbClr val="162136"/>
                    </a:solidFill>
                  </a:tcPr>
                </a:tc>
                <a:tc>
                  <a:txBody>
                    <a:bodyPr/>
                    <a:lstStyle/>
                    <a:p>
                      <a:r>
                        <a:rPr sz="1400" b="0" dirty="0">
                          <a:solidFill>
                            <a:srgbClr val="F8FAFC"/>
                          </a:solidFill>
                          <a:latin typeface="Calibri"/>
                        </a:rPr>
                        <a:t>Demo MSISDNs + working UI overlay + admin guard status</a:t>
                      </a:r>
                    </a:p>
                  </a:txBody>
                  <a:tcPr>
                    <a:solidFill>
                      <a:srgbClr val="162136"/>
                    </a:solidFill>
                  </a:tcPr>
                </a:tc>
                <a:extLst>
                  <a:ext uri="{0D108BD9-81ED-4DB2-BD59-A6C34878D82A}">
                    <a16:rowId xmlns:a16="http://schemas.microsoft.com/office/drawing/2014/main" val="10003"/>
                  </a:ext>
                </a:extLst>
              </a:tr>
            </a:tbl>
          </a:graphicData>
        </a:graphic>
      </p:graphicFrame>
      <p:sp>
        <p:nvSpPr>
          <p:cNvPr id="8" name="Rounded Rectangle 7"/>
          <p:cNvSpPr/>
          <p:nvPr/>
        </p:nvSpPr>
        <p:spPr>
          <a:xfrm>
            <a:off x="457200" y="4251960"/>
            <a:ext cx="11247120" cy="178308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4389120"/>
            <a:ext cx="10972800" cy="369332"/>
          </a:xfrm>
          <a:prstGeom prst="rect">
            <a:avLst/>
          </a:prstGeom>
          <a:noFill/>
        </p:spPr>
        <p:txBody>
          <a:bodyPr wrap="square">
            <a:spAutoFit/>
          </a:bodyPr>
          <a:lstStyle/>
          <a:p>
            <a:pPr algn="l"/>
            <a:r>
              <a:rPr b="1" dirty="0">
                <a:solidFill>
                  <a:srgbClr val="E8C56B"/>
                </a:solidFill>
                <a:latin typeface="Calibri"/>
              </a:rPr>
              <a:t>Declaration</a:t>
            </a:r>
          </a:p>
        </p:txBody>
      </p:sp>
      <p:sp>
        <p:nvSpPr>
          <p:cNvPr id="10" name="TextBox 9"/>
          <p:cNvSpPr txBox="1"/>
          <p:nvPr/>
        </p:nvSpPr>
        <p:spPr>
          <a:xfrm>
            <a:off x="685800" y="4709160"/>
            <a:ext cx="10789920" cy="584775"/>
          </a:xfrm>
          <a:prstGeom prst="rect">
            <a:avLst/>
          </a:prstGeom>
          <a:noFill/>
        </p:spPr>
        <p:txBody>
          <a:bodyPr wrap="square">
            <a:spAutoFit/>
          </a:bodyPr>
          <a:lstStyle/>
          <a:p>
            <a:pPr algn="l"/>
            <a:r>
              <a:rPr sz="1600" b="0" dirty="0">
                <a:solidFill>
                  <a:srgbClr val="F8FAFC"/>
                </a:solidFill>
                <a:latin typeface="Calibri"/>
              </a:rPr>
              <a:t>This solution uses GSMA CAMARA network APIs through Nokia Network-as-Code AND uses an AI Agent to orchestrate those APIs and take security decisions. Both mandatory requirements are satisfied in the live decision path — not as optional plugins.</a:t>
            </a:r>
          </a:p>
        </p:txBody>
      </p:sp>
      <p:sp>
        <p:nvSpPr>
          <p:cNvPr id="11" name="TextBox 10"/>
          <p:cNvSpPr txBox="1"/>
          <p:nvPr/>
        </p:nvSpPr>
        <p:spPr>
          <a:xfrm>
            <a:off x="457200" y="6510528"/>
            <a:ext cx="8229600" cy="256032"/>
          </a:xfrm>
          <a:prstGeom prst="rect">
            <a:avLst/>
          </a:prstGeom>
          <a:noFill/>
        </p:spPr>
        <p:txBody>
          <a:bodyPr wrap="square">
            <a:spAutoFit/>
          </a:bodyPr>
          <a:lstStyle/>
          <a:p>
            <a:pPr algn="l"/>
            <a:r>
              <a:rPr sz="1000" b="0">
                <a:solidFill>
                  <a:srgbClr val="94A3B8"/>
                </a:solidFill>
                <a:latin typeface="Calibri"/>
              </a:rPr>
              <a:t>Smart Profits  ·  GSMA MENA Ignite  ·  Theme 4  ·  Nokia Network-as-Code</a:t>
            </a:r>
          </a:p>
        </p:txBody>
      </p:sp>
      <p:sp>
        <p:nvSpPr>
          <p:cNvPr id="12" name="TextBox 11"/>
          <p:cNvSpPr txBox="1"/>
          <p:nvPr/>
        </p:nvSpPr>
        <p:spPr>
          <a:xfrm>
            <a:off x="10424160" y="6510528"/>
            <a:ext cx="1280160" cy="256032"/>
          </a:xfrm>
          <a:prstGeom prst="rect">
            <a:avLst/>
          </a:prstGeom>
          <a:noFill/>
        </p:spPr>
        <p:txBody>
          <a:bodyPr wrap="square">
            <a:spAutoFit/>
          </a:bodyPr>
          <a:lstStyle/>
          <a:p>
            <a:pPr algn="r"/>
            <a:r>
              <a:rPr sz="1000" b="0">
                <a:solidFill>
                  <a:srgbClr val="94A3B8"/>
                </a:solidFill>
                <a:latin typeface="Calibri"/>
              </a:rPr>
              <a:t>07 / 19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56032"/>
            <a:ext cx="10972800" cy="292608"/>
          </a:xfrm>
          <a:prstGeom prst="rect">
            <a:avLst/>
          </a:prstGeom>
          <a:noFill/>
        </p:spPr>
        <p:txBody>
          <a:bodyPr wrap="square">
            <a:spAutoFit/>
          </a:bodyPr>
          <a:lstStyle/>
          <a:p>
            <a:pPr algn="l"/>
            <a:r>
              <a:rPr sz="1100" b="1">
                <a:solidFill>
                  <a:srgbClr val="4FD1C5"/>
                </a:solidFill>
                <a:latin typeface="Calibri"/>
              </a:rPr>
              <a:t>5. NOKIA CAMARA APIS</a:t>
            </a:r>
          </a:p>
        </p:txBody>
      </p:sp>
      <p:sp>
        <p:nvSpPr>
          <p:cNvPr id="6" name="TextBox 5"/>
          <p:cNvSpPr txBox="1"/>
          <p:nvPr/>
        </p:nvSpPr>
        <p:spPr>
          <a:xfrm>
            <a:off x="502920" y="530352"/>
            <a:ext cx="11155680" cy="594360"/>
          </a:xfrm>
          <a:prstGeom prst="rect">
            <a:avLst/>
          </a:prstGeom>
          <a:noFill/>
        </p:spPr>
        <p:txBody>
          <a:bodyPr wrap="square">
            <a:spAutoFit/>
          </a:bodyPr>
          <a:lstStyle/>
          <a:p>
            <a:pPr algn="l"/>
            <a:r>
              <a:rPr sz="2600" b="1">
                <a:solidFill>
                  <a:srgbClr val="F8FAFC"/>
                </a:solidFill>
                <a:latin typeface="Calibri"/>
              </a:rPr>
              <a:t>What we call, when, and what the agent does</a:t>
            </a:r>
          </a:p>
        </p:txBody>
      </p:sp>
      <p:graphicFrame>
        <p:nvGraphicFramePr>
          <p:cNvPr id="7" name="Table 6"/>
          <p:cNvGraphicFramePr>
            <a:graphicFrameLocks noGrp="1"/>
          </p:cNvGraphicFramePr>
          <p:nvPr>
            <p:extLst>
              <p:ext uri="{D42A27DB-BD31-4B8C-83A1-F6EECF244321}">
                <p14:modId xmlns:p14="http://schemas.microsoft.com/office/powerpoint/2010/main" val="2859917865"/>
              </p:ext>
            </p:extLst>
          </p:nvPr>
        </p:nvGraphicFramePr>
        <p:xfrm>
          <a:off x="457200" y="1371600"/>
          <a:ext cx="11247120" cy="260604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521208">
                <a:tc>
                  <a:txBody>
                    <a:bodyPr/>
                    <a:lstStyle/>
                    <a:p>
                      <a:r>
                        <a:rPr sz="1400" b="1" dirty="0">
                          <a:solidFill>
                            <a:srgbClr val="4FD1C5"/>
                          </a:solidFill>
                          <a:latin typeface="Calibri"/>
                        </a:rPr>
                        <a:t>CAMARA API</a:t>
                      </a:r>
                    </a:p>
                  </a:txBody>
                  <a:tcPr>
                    <a:solidFill>
                      <a:srgbClr val="0B1120"/>
                    </a:solidFill>
                  </a:tcPr>
                </a:tc>
                <a:tc>
                  <a:txBody>
                    <a:bodyPr/>
                    <a:lstStyle/>
                    <a:p>
                      <a:r>
                        <a:rPr sz="1400" b="1">
                          <a:solidFill>
                            <a:srgbClr val="4FD1C5"/>
                          </a:solidFill>
                          <a:latin typeface="Calibri"/>
                        </a:rPr>
                        <a:t>Trigger</a:t>
                      </a:r>
                    </a:p>
                  </a:txBody>
                  <a:tcPr>
                    <a:solidFill>
                      <a:srgbClr val="0B1120"/>
                    </a:solidFill>
                  </a:tcPr>
                </a:tc>
                <a:tc>
                  <a:txBody>
                    <a:bodyPr/>
                    <a:lstStyle/>
                    <a:p>
                      <a:r>
                        <a:rPr sz="1400" b="1">
                          <a:solidFill>
                            <a:srgbClr val="4FD1C5"/>
                          </a:solidFill>
                          <a:latin typeface="Calibri"/>
                        </a:rPr>
                        <a:t>Agent decision</a:t>
                      </a:r>
                    </a:p>
                  </a:txBody>
                  <a:tcPr>
                    <a:solidFill>
                      <a:srgbClr val="0B1120"/>
                    </a:solidFill>
                  </a:tcPr>
                </a:tc>
                <a:extLst>
                  <a:ext uri="{0D108BD9-81ED-4DB2-BD59-A6C34878D82A}">
                    <a16:rowId xmlns:a16="http://schemas.microsoft.com/office/drawing/2014/main" val="10000"/>
                  </a:ext>
                </a:extLst>
              </a:tr>
              <a:tr h="521208">
                <a:tc>
                  <a:txBody>
                    <a:bodyPr/>
                    <a:lstStyle/>
                    <a:p>
                      <a:r>
                        <a:rPr sz="1400" b="1" dirty="0">
                          <a:solidFill>
                            <a:srgbClr val="4FD1C5"/>
                          </a:solidFill>
                          <a:latin typeface="Calibri"/>
                        </a:rPr>
                        <a:t>SIM Swap</a:t>
                      </a:r>
                    </a:p>
                  </a:txBody>
                  <a:tcPr>
                    <a:solidFill>
                      <a:srgbClr val="162136"/>
                    </a:solidFill>
                  </a:tcPr>
                </a:tc>
                <a:tc>
                  <a:txBody>
                    <a:bodyPr/>
                    <a:lstStyle/>
                    <a:p>
                      <a:r>
                        <a:rPr sz="1400" b="0">
                          <a:solidFill>
                            <a:srgbClr val="F8FAFC"/>
                          </a:solidFill>
                          <a:latin typeface="Calibri"/>
                        </a:rPr>
                        <a:t>Login, register, reset, sensitive settings</a:t>
                      </a:r>
                    </a:p>
                  </a:txBody>
                  <a:tcPr>
                    <a:solidFill>
                      <a:srgbClr val="162136"/>
                    </a:solidFill>
                  </a:tcPr>
                </a:tc>
                <a:tc>
                  <a:txBody>
                    <a:bodyPr/>
                    <a:lstStyle/>
                    <a:p>
                      <a:r>
                        <a:rPr sz="1400" b="0">
                          <a:solidFill>
                            <a:srgbClr val="F8FAFC"/>
                          </a:solidFill>
                          <a:latin typeface="Calibri"/>
                        </a:rPr>
                        <a:t>Recent swap → FREEZE session. SMS OTP is untrusted.</a:t>
                      </a:r>
                    </a:p>
                  </a:txBody>
                  <a:tcPr>
                    <a:solidFill>
                      <a:srgbClr val="162136"/>
                    </a:solidFill>
                  </a:tcPr>
                </a:tc>
                <a:extLst>
                  <a:ext uri="{0D108BD9-81ED-4DB2-BD59-A6C34878D82A}">
                    <a16:rowId xmlns:a16="http://schemas.microsoft.com/office/drawing/2014/main" val="10001"/>
                  </a:ext>
                </a:extLst>
              </a:tr>
              <a:tr h="521208">
                <a:tc>
                  <a:txBody>
                    <a:bodyPr/>
                    <a:lstStyle/>
                    <a:p>
                      <a:r>
                        <a:rPr sz="1400" b="1" dirty="0">
                          <a:solidFill>
                            <a:srgbClr val="4FD1C5"/>
                          </a:solidFill>
                          <a:latin typeface="Calibri"/>
                        </a:rPr>
                        <a:t>Number Verification</a:t>
                      </a:r>
                    </a:p>
                  </a:txBody>
                  <a:tcPr>
                    <a:solidFill>
                      <a:srgbClr val="141C30"/>
                    </a:solidFill>
                  </a:tcPr>
                </a:tc>
                <a:tc>
                  <a:txBody>
                    <a:bodyPr/>
                    <a:lstStyle/>
                    <a:p>
                      <a:r>
                        <a:rPr sz="1400" b="0" dirty="0">
                          <a:solidFill>
                            <a:srgbClr val="F8FAFC"/>
                          </a:solidFill>
                          <a:latin typeface="Calibri"/>
                        </a:rPr>
                        <a:t>Login, step-up identity</a:t>
                      </a:r>
                    </a:p>
                  </a:txBody>
                  <a:tcPr>
                    <a:solidFill>
                      <a:srgbClr val="141C30"/>
                    </a:solidFill>
                  </a:tcPr>
                </a:tc>
                <a:tc>
                  <a:txBody>
                    <a:bodyPr/>
                    <a:lstStyle/>
                    <a:p>
                      <a:r>
                        <a:rPr sz="1400" b="0">
                          <a:solidFill>
                            <a:srgbClr val="F8FAFC"/>
                          </a:solidFill>
                          <a:latin typeface="Calibri"/>
                        </a:rPr>
                        <a:t>Silent 4G/5G check — confirm live network number, not spoofed SMS.</a:t>
                      </a:r>
                    </a:p>
                  </a:txBody>
                  <a:tcPr>
                    <a:solidFill>
                      <a:srgbClr val="141C30"/>
                    </a:solidFill>
                  </a:tcPr>
                </a:tc>
                <a:extLst>
                  <a:ext uri="{0D108BD9-81ED-4DB2-BD59-A6C34878D82A}">
                    <a16:rowId xmlns:a16="http://schemas.microsoft.com/office/drawing/2014/main" val="10002"/>
                  </a:ext>
                </a:extLst>
              </a:tr>
              <a:tr h="521208">
                <a:tc>
                  <a:txBody>
                    <a:bodyPr/>
                    <a:lstStyle/>
                    <a:p>
                      <a:r>
                        <a:rPr sz="1400" b="1">
                          <a:solidFill>
                            <a:srgbClr val="4FD1C5"/>
                          </a:solidFill>
                          <a:latin typeface="Calibri"/>
                        </a:rPr>
                        <a:t>Location Verification</a:t>
                      </a:r>
                    </a:p>
                  </a:txBody>
                  <a:tcPr>
                    <a:solidFill>
                      <a:srgbClr val="162136"/>
                    </a:solidFill>
                  </a:tcPr>
                </a:tc>
                <a:tc>
                  <a:txBody>
                    <a:bodyPr/>
                    <a:lstStyle/>
                    <a:p>
                      <a:r>
                        <a:rPr sz="1400" b="0" dirty="0">
                          <a:solidFill>
                            <a:srgbClr val="F8FAFC"/>
                          </a:solidFill>
                          <a:latin typeface="Calibri"/>
                        </a:rPr>
                        <a:t>Financial file upload, P&amp;L export</a:t>
                      </a:r>
                    </a:p>
                  </a:txBody>
                  <a:tcPr>
                    <a:solidFill>
                      <a:srgbClr val="162136"/>
                    </a:solidFill>
                  </a:tcPr>
                </a:tc>
                <a:tc>
                  <a:txBody>
                    <a:bodyPr/>
                    <a:lstStyle/>
                    <a:p>
                      <a:r>
                        <a:rPr sz="1400" b="0">
                          <a:solidFill>
                            <a:srgbClr val="F8FAFC"/>
                          </a:solidFill>
                          <a:latin typeface="Calibri"/>
                        </a:rPr>
                        <a:t>Must match store geofence — else STEP-UP or block upload.</a:t>
                      </a:r>
                    </a:p>
                  </a:txBody>
                  <a:tcPr>
                    <a:solidFill>
                      <a:srgbClr val="162136"/>
                    </a:solidFill>
                  </a:tcPr>
                </a:tc>
                <a:extLst>
                  <a:ext uri="{0D108BD9-81ED-4DB2-BD59-A6C34878D82A}">
                    <a16:rowId xmlns:a16="http://schemas.microsoft.com/office/drawing/2014/main" val="10003"/>
                  </a:ext>
                </a:extLst>
              </a:tr>
              <a:tr h="521208">
                <a:tc>
                  <a:txBody>
                    <a:bodyPr/>
                    <a:lstStyle/>
                    <a:p>
                      <a:r>
                        <a:rPr sz="1400" b="1">
                          <a:solidFill>
                            <a:srgbClr val="4FD1C5"/>
                          </a:solidFill>
                          <a:latin typeface="Calibri"/>
                        </a:rPr>
                        <a:t>Device Swap</a:t>
                      </a:r>
                    </a:p>
                  </a:txBody>
                  <a:tcPr>
                    <a:solidFill>
                      <a:srgbClr val="141C30"/>
                    </a:solidFill>
                  </a:tcPr>
                </a:tc>
                <a:tc>
                  <a:txBody>
                    <a:bodyPr/>
                    <a:lstStyle/>
                    <a:p>
                      <a:r>
                        <a:rPr sz="1400" b="0" dirty="0">
                          <a:solidFill>
                            <a:srgbClr val="F8FAFC"/>
                          </a:solidFill>
                          <a:latin typeface="Calibri"/>
                        </a:rPr>
                        <a:t>Same sensitive actions as SIM</a:t>
                      </a:r>
                    </a:p>
                  </a:txBody>
                  <a:tcPr>
                    <a:solidFill>
                      <a:srgbClr val="141C30"/>
                    </a:solidFill>
                  </a:tcPr>
                </a:tc>
                <a:tc>
                  <a:txBody>
                    <a:bodyPr/>
                    <a:lstStyle/>
                    <a:p>
                      <a:r>
                        <a:rPr sz="1400" b="0" dirty="0">
                          <a:solidFill>
                            <a:srgbClr val="F8FAFC"/>
                          </a:solidFill>
                          <a:latin typeface="Calibri"/>
                        </a:rPr>
                        <a:t>Recent device change → FREEZE (complements SIM signal).</a:t>
                      </a:r>
                    </a:p>
                  </a:txBody>
                  <a:tcPr>
                    <a:solidFill>
                      <a:srgbClr val="141C30"/>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457200" y="4160520"/>
            <a:ext cx="11247120" cy="1874519"/>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4297680"/>
            <a:ext cx="10972800" cy="369332"/>
          </a:xfrm>
          <a:prstGeom prst="rect">
            <a:avLst/>
          </a:prstGeom>
          <a:noFill/>
        </p:spPr>
        <p:txBody>
          <a:bodyPr wrap="square">
            <a:spAutoFit/>
          </a:bodyPr>
          <a:lstStyle/>
          <a:p>
            <a:pPr algn="l"/>
            <a:r>
              <a:rPr b="1" dirty="0">
                <a:solidFill>
                  <a:srgbClr val="E8C56B"/>
                </a:solidFill>
                <a:latin typeface="Calibri"/>
              </a:rPr>
              <a:t>Frictionless security — Silent Authentication</a:t>
            </a:r>
          </a:p>
        </p:txBody>
      </p:sp>
      <p:sp>
        <p:nvSpPr>
          <p:cNvPr id="10" name="TextBox 9"/>
          <p:cNvSpPr txBox="1"/>
          <p:nvPr/>
        </p:nvSpPr>
        <p:spPr>
          <a:xfrm>
            <a:off x="685800" y="4617720"/>
            <a:ext cx="10789920" cy="1323439"/>
          </a:xfrm>
          <a:prstGeom prst="rect">
            <a:avLst/>
          </a:prstGeom>
          <a:noFill/>
        </p:spPr>
        <p:txBody>
          <a:bodyPr wrap="square">
            <a:spAutoFit/>
          </a:bodyPr>
          <a:lstStyle/>
          <a:p>
            <a:pPr algn="l"/>
            <a:r>
              <a:rPr sz="1600" b="0" dirty="0">
                <a:solidFill>
                  <a:srgbClr val="F8FAFC"/>
                </a:solidFill>
                <a:latin typeface="Calibri"/>
              </a:rPr>
              <a:t>In the normal path, Number Verification runs quietly on the operator 4G/5G network — the merchant does not wait for SMS or type a code.
Security friction appears only when risk is real (SIM/device swap → Freeze, soft location mismatch → Step-up).
Demo MSISDNs: +99999991001 clean · +99999991000 freeze · +99999991002 step-up. Policy stays pure — no fake success on provider failure.</a:t>
            </a:r>
          </a:p>
        </p:txBody>
      </p:sp>
      <p:sp>
        <p:nvSpPr>
          <p:cNvPr id="11" name="TextBox 10"/>
          <p:cNvSpPr txBox="1"/>
          <p:nvPr/>
        </p:nvSpPr>
        <p:spPr>
          <a:xfrm>
            <a:off x="457200" y="6510528"/>
            <a:ext cx="8229600" cy="256032"/>
          </a:xfrm>
          <a:prstGeom prst="rect">
            <a:avLst/>
          </a:prstGeom>
          <a:noFill/>
        </p:spPr>
        <p:txBody>
          <a:bodyPr wrap="square">
            <a:spAutoFit/>
          </a:bodyPr>
          <a:lstStyle/>
          <a:p>
            <a:pPr algn="l"/>
            <a:r>
              <a:rPr sz="1000" b="0">
                <a:solidFill>
                  <a:srgbClr val="94A3B8"/>
                </a:solidFill>
                <a:latin typeface="Calibri"/>
              </a:rPr>
              <a:t>Smart Profits  ·  GSMA MENA Ignite  ·  Theme 4  ·  Nokia Network-as-Code</a:t>
            </a:r>
          </a:p>
        </p:txBody>
      </p:sp>
      <p:sp>
        <p:nvSpPr>
          <p:cNvPr id="12" name="TextBox 11"/>
          <p:cNvSpPr txBox="1"/>
          <p:nvPr/>
        </p:nvSpPr>
        <p:spPr>
          <a:xfrm>
            <a:off x="10424160" y="6510528"/>
            <a:ext cx="1280160" cy="256032"/>
          </a:xfrm>
          <a:prstGeom prst="rect">
            <a:avLst/>
          </a:prstGeom>
          <a:noFill/>
        </p:spPr>
        <p:txBody>
          <a:bodyPr wrap="square">
            <a:spAutoFit/>
          </a:bodyPr>
          <a:lstStyle/>
          <a:p>
            <a:pPr algn="r"/>
            <a:r>
              <a:rPr sz="1000" b="0">
                <a:solidFill>
                  <a:srgbClr val="94A3B8"/>
                </a:solidFill>
                <a:latin typeface="Calibri"/>
              </a:rPr>
              <a:t>08 / 19</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8854"/>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56032"/>
            <a:ext cx="10972800" cy="292608"/>
          </a:xfrm>
          <a:prstGeom prst="rect">
            <a:avLst/>
          </a:prstGeom>
          <a:noFill/>
        </p:spPr>
        <p:txBody>
          <a:bodyPr wrap="square">
            <a:spAutoFit/>
          </a:bodyPr>
          <a:lstStyle/>
          <a:p>
            <a:pPr algn="l"/>
            <a:r>
              <a:rPr sz="1100" b="1">
                <a:solidFill>
                  <a:srgbClr val="4FD1C5"/>
                </a:solidFill>
                <a:latin typeface="Calibri"/>
              </a:rPr>
              <a:t>6. SMART GUARD AI AGENT</a:t>
            </a:r>
          </a:p>
        </p:txBody>
      </p:sp>
      <p:sp>
        <p:nvSpPr>
          <p:cNvPr id="6" name="TextBox 5"/>
          <p:cNvSpPr txBox="1"/>
          <p:nvPr/>
        </p:nvSpPr>
        <p:spPr>
          <a:xfrm>
            <a:off x="502920" y="530352"/>
            <a:ext cx="11155680" cy="594360"/>
          </a:xfrm>
          <a:prstGeom prst="rect">
            <a:avLst/>
          </a:prstGeom>
          <a:noFill/>
        </p:spPr>
        <p:txBody>
          <a:bodyPr wrap="square">
            <a:spAutoFit/>
          </a:bodyPr>
          <a:lstStyle/>
          <a:p>
            <a:pPr algn="l"/>
            <a:r>
              <a:rPr sz="2600" b="1">
                <a:solidFill>
                  <a:srgbClr val="F8FAFC"/>
                </a:solidFill>
                <a:latin typeface="Calibri"/>
              </a:rPr>
              <a:t>Not a static rule engine — an agent that fuses network risk + financial sensitivity</a:t>
            </a:r>
          </a:p>
        </p:txBody>
      </p:sp>
      <p:sp>
        <p:nvSpPr>
          <p:cNvPr id="7" name="TextBox 6"/>
          <p:cNvSpPr txBox="1"/>
          <p:nvPr/>
        </p:nvSpPr>
        <p:spPr>
          <a:xfrm>
            <a:off x="1992355" y="1065276"/>
            <a:ext cx="11155680" cy="411480"/>
          </a:xfrm>
          <a:prstGeom prst="rect">
            <a:avLst/>
          </a:prstGeom>
          <a:noFill/>
        </p:spPr>
        <p:txBody>
          <a:bodyPr wrap="square">
            <a:spAutoFit/>
          </a:bodyPr>
          <a:lstStyle/>
          <a:p>
            <a:pPr algn="l"/>
            <a:r>
              <a:rPr sz="1400" b="0" dirty="0">
                <a:solidFill>
                  <a:srgbClr val="94A3B8"/>
                </a:solidFill>
                <a:latin typeface="Calibri"/>
              </a:rPr>
              <a:t>Sense → Query tools → Decide with context → Act (enforce).</a:t>
            </a:r>
          </a:p>
        </p:txBody>
      </p:sp>
      <p:sp>
        <p:nvSpPr>
          <p:cNvPr id="8" name="Rounded Rectangle 7"/>
          <p:cNvSpPr/>
          <p:nvPr/>
        </p:nvSpPr>
        <p:spPr>
          <a:xfrm>
            <a:off x="457200" y="1417320"/>
            <a:ext cx="2743200" cy="178308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9" name="TextBox 8"/>
          <p:cNvSpPr txBox="1"/>
          <p:nvPr/>
        </p:nvSpPr>
        <p:spPr>
          <a:xfrm>
            <a:off x="658368" y="1545336"/>
            <a:ext cx="2377440" cy="310896"/>
          </a:xfrm>
          <a:prstGeom prst="rect">
            <a:avLst/>
          </a:prstGeom>
          <a:noFill/>
        </p:spPr>
        <p:txBody>
          <a:bodyPr wrap="square">
            <a:spAutoFit/>
          </a:bodyPr>
          <a:lstStyle/>
          <a:p>
            <a:pPr algn="l"/>
            <a:r>
              <a:rPr sz="1400" b="1">
                <a:solidFill>
                  <a:srgbClr val="4FD1C5"/>
                </a:solidFill>
                <a:latin typeface="Calibri"/>
              </a:rPr>
              <a:t>1 · Sense</a:t>
            </a:r>
          </a:p>
        </p:txBody>
      </p:sp>
      <p:sp>
        <p:nvSpPr>
          <p:cNvPr id="10" name="TextBox 9"/>
          <p:cNvSpPr txBox="1"/>
          <p:nvPr/>
        </p:nvSpPr>
        <p:spPr>
          <a:xfrm>
            <a:off x="658368" y="1856232"/>
            <a:ext cx="2377440" cy="738664"/>
          </a:xfrm>
          <a:prstGeom prst="rect">
            <a:avLst/>
          </a:prstGeom>
          <a:noFill/>
        </p:spPr>
        <p:txBody>
          <a:bodyPr wrap="square">
            <a:spAutoFit/>
          </a:bodyPr>
          <a:lstStyle/>
          <a:p>
            <a:pPr algn="l"/>
            <a:r>
              <a:rPr sz="1400" b="0" dirty="0">
                <a:solidFill>
                  <a:srgbClr val="F8FAFC"/>
                </a:solidFill>
                <a:latin typeface="Calibri"/>
              </a:rPr>
              <a:t>Action + file context: login, register, upload size/name, price change, account age.</a:t>
            </a:r>
          </a:p>
        </p:txBody>
      </p:sp>
      <p:sp>
        <p:nvSpPr>
          <p:cNvPr id="11" name="Rounded Rectangle 10"/>
          <p:cNvSpPr/>
          <p:nvPr/>
        </p:nvSpPr>
        <p:spPr>
          <a:xfrm>
            <a:off x="3383280" y="1417320"/>
            <a:ext cx="2743200" cy="178308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2" name="TextBox 11"/>
          <p:cNvSpPr txBox="1"/>
          <p:nvPr/>
        </p:nvSpPr>
        <p:spPr>
          <a:xfrm>
            <a:off x="3584448" y="1545336"/>
            <a:ext cx="2377440" cy="310896"/>
          </a:xfrm>
          <a:prstGeom prst="rect">
            <a:avLst/>
          </a:prstGeom>
          <a:noFill/>
        </p:spPr>
        <p:txBody>
          <a:bodyPr wrap="square">
            <a:spAutoFit/>
          </a:bodyPr>
          <a:lstStyle/>
          <a:p>
            <a:pPr algn="l"/>
            <a:r>
              <a:rPr sz="1400" b="1">
                <a:solidFill>
                  <a:srgbClr val="4FD1C5"/>
                </a:solidFill>
                <a:latin typeface="Calibri"/>
              </a:rPr>
              <a:t>2 · Query</a:t>
            </a:r>
          </a:p>
        </p:txBody>
      </p:sp>
      <p:sp>
        <p:nvSpPr>
          <p:cNvPr id="13" name="TextBox 12"/>
          <p:cNvSpPr txBox="1"/>
          <p:nvPr/>
        </p:nvSpPr>
        <p:spPr>
          <a:xfrm>
            <a:off x="3584448" y="1856232"/>
            <a:ext cx="2377440" cy="954107"/>
          </a:xfrm>
          <a:prstGeom prst="rect">
            <a:avLst/>
          </a:prstGeom>
          <a:noFill/>
        </p:spPr>
        <p:txBody>
          <a:bodyPr wrap="square">
            <a:spAutoFit/>
          </a:bodyPr>
          <a:lstStyle/>
          <a:p>
            <a:pPr algn="l"/>
            <a:r>
              <a:rPr sz="1400" b="0">
                <a:solidFill>
                  <a:srgbClr val="F8FAFC"/>
                </a:solidFill>
                <a:latin typeface="Calibri"/>
              </a:rPr>
              <a:t>Parallel CAMARA tools via Nokia NaC: SIM Swap, Device Swap, Number Verification, Location.</a:t>
            </a:r>
          </a:p>
        </p:txBody>
      </p:sp>
      <p:sp>
        <p:nvSpPr>
          <p:cNvPr id="14" name="Rounded Rectangle 13"/>
          <p:cNvSpPr/>
          <p:nvPr/>
        </p:nvSpPr>
        <p:spPr>
          <a:xfrm>
            <a:off x="6309360" y="1417320"/>
            <a:ext cx="2743200" cy="178308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TextBox 14"/>
          <p:cNvSpPr txBox="1"/>
          <p:nvPr/>
        </p:nvSpPr>
        <p:spPr>
          <a:xfrm>
            <a:off x="6510528" y="1545336"/>
            <a:ext cx="2377440" cy="310896"/>
          </a:xfrm>
          <a:prstGeom prst="rect">
            <a:avLst/>
          </a:prstGeom>
          <a:noFill/>
        </p:spPr>
        <p:txBody>
          <a:bodyPr wrap="square">
            <a:spAutoFit/>
          </a:bodyPr>
          <a:lstStyle/>
          <a:p>
            <a:pPr algn="l"/>
            <a:r>
              <a:rPr sz="1400" b="1">
                <a:solidFill>
                  <a:srgbClr val="4FD1C5"/>
                </a:solidFill>
                <a:latin typeface="Calibri"/>
              </a:rPr>
              <a:t>3 · Decide</a:t>
            </a:r>
          </a:p>
        </p:txBody>
      </p:sp>
      <p:sp>
        <p:nvSpPr>
          <p:cNvPr id="16" name="TextBox 15"/>
          <p:cNvSpPr txBox="1"/>
          <p:nvPr/>
        </p:nvSpPr>
        <p:spPr>
          <a:xfrm>
            <a:off x="6510528" y="1856232"/>
            <a:ext cx="2377440" cy="954107"/>
          </a:xfrm>
          <a:prstGeom prst="rect">
            <a:avLst/>
          </a:prstGeom>
          <a:noFill/>
        </p:spPr>
        <p:txBody>
          <a:bodyPr wrap="square">
            <a:spAutoFit/>
          </a:bodyPr>
          <a:lstStyle/>
          <a:p>
            <a:pPr algn="l"/>
            <a:r>
              <a:rPr sz="1400" b="0">
                <a:solidFill>
                  <a:srgbClr val="F8FAFC"/>
                </a:solidFill>
                <a:latin typeface="Calibri"/>
              </a:rPr>
              <a:t>Fuse network signals WITH financial risk (financialSuspicion). Output Allow · Step-up · Freeze.</a:t>
            </a:r>
          </a:p>
        </p:txBody>
      </p:sp>
      <p:sp>
        <p:nvSpPr>
          <p:cNvPr id="17" name="Rounded Rectangle 16"/>
          <p:cNvSpPr/>
          <p:nvPr/>
        </p:nvSpPr>
        <p:spPr>
          <a:xfrm>
            <a:off x="9235440" y="1417320"/>
            <a:ext cx="2743200" cy="178308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8" name="TextBox 17"/>
          <p:cNvSpPr txBox="1"/>
          <p:nvPr/>
        </p:nvSpPr>
        <p:spPr>
          <a:xfrm>
            <a:off x="9436608" y="1545336"/>
            <a:ext cx="2377440" cy="310896"/>
          </a:xfrm>
          <a:prstGeom prst="rect">
            <a:avLst/>
          </a:prstGeom>
          <a:noFill/>
        </p:spPr>
        <p:txBody>
          <a:bodyPr wrap="square">
            <a:spAutoFit/>
          </a:bodyPr>
          <a:lstStyle/>
          <a:p>
            <a:pPr algn="l"/>
            <a:r>
              <a:rPr sz="1400" b="1">
                <a:solidFill>
                  <a:srgbClr val="4FD1C5"/>
                </a:solidFill>
                <a:latin typeface="Calibri"/>
              </a:rPr>
              <a:t>4 · Act</a:t>
            </a:r>
          </a:p>
        </p:txBody>
      </p:sp>
      <p:sp>
        <p:nvSpPr>
          <p:cNvPr id="19" name="TextBox 18"/>
          <p:cNvSpPr txBox="1"/>
          <p:nvPr/>
        </p:nvSpPr>
        <p:spPr>
          <a:xfrm>
            <a:off x="9436608" y="1856232"/>
            <a:ext cx="2377440" cy="738664"/>
          </a:xfrm>
          <a:prstGeom prst="rect">
            <a:avLst/>
          </a:prstGeom>
          <a:noFill/>
        </p:spPr>
        <p:txBody>
          <a:bodyPr wrap="square">
            <a:spAutoFit/>
          </a:bodyPr>
          <a:lstStyle/>
          <a:p>
            <a:pPr algn="l"/>
            <a:r>
              <a:rPr sz="1400" b="0">
                <a:solidFill>
                  <a:srgbClr val="F8FAFC"/>
                </a:solidFill>
                <a:latin typeface="Calibri"/>
              </a:rPr>
              <a:t>Server enforce (403/503). UI step-up only when needed. Explain in AR/EN.</a:t>
            </a:r>
          </a:p>
        </p:txBody>
      </p:sp>
      <p:sp>
        <p:nvSpPr>
          <p:cNvPr id="20" name="Rounded Rectangle 19"/>
          <p:cNvSpPr/>
          <p:nvPr/>
        </p:nvSpPr>
        <p:spPr>
          <a:xfrm>
            <a:off x="457200" y="3383280"/>
            <a:ext cx="11247120" cy="260604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85800" y="3520440"/>
            <a:ext cx="10972800" cy="369332"/>
          </a:xfrm>
          <a:prstGeom prst="rect">
            <a:avLst/>
          </a:prstGeom>
          <a:noFill/>
        </p:spPr>
        <p:txBody>
          <a:bodyPr wrap="square">
            <a:spAutoFit/>
          </a:bodyPr>
          <a:lstStyle/>
          <a:p>
            <a:pPr algn="l"/>
            <a:r>
              <a:rPr b="1" dirty="0">
                <a:solidFill>
                  <a:srgbClr val="E8C56B"/>
                </a:solidFill>
                <a:latin typeface="Calibri"/>
              </a:rPr>
              <a:t>Why this is an AI Agent decision — not plain if/else</a:t>
            </a:r>
          </a:p>
        </p:txBody>
      </p:sp>
      <p:sp>
        <p:nvSpPr>
          <p:cNvPr id="22" name="TextBox 21"/>
          <p:cNvSpPr txBox="1"/>
          <p:nvPr/>
        </p:nvSpPr>
        <p:spPr>
          <a:xfrm>
            <a:off x="685800" y="3840480"/>
            <a:ext cx="10789920" cy="1554272"/>
          </a:xfrm>
          <a:prstGeom prst="rect">
            <a:avLst/>
          </a:prstGeom>
          <a:noFill/>
        </p:spPr>
        <p:txBody>
          <a:bodyPr wrap="square">
            <a:spAutoFit/>
          </a:bodyPr>
          <a:lstStyle/>
          <a:p>
            <a:pPr algn="l">
              <a:spcAft>
                <a:spcPts val="600"/>
              </a:spcAft>
            </a:pPr>
            <a:r>
              <a:rPr sz="1600" b="0" dirty="0">
                <a:solidFill>
                  <a:srgbClr val="F8FAFC"/>
                </a:solidFill>
                <a:latin typeface="Calibri"/>
              </a:rPr>
              <a:t>• Small network change + ordinary purchases file → Agent ALLOWS — no merchant friction.</a:t>
            </a:r>
          </a:p>
          <a:p>
            <a:pPr algn="l">
              <a:spcAft>
                <a:spcPts val="600"/>
              </a:spcAft>
            </a:pPr>
            <a:r>
              <a:rPr sz="1600" b="0" dirty="0">
                <a:solidFill>
                  <a:srgbClr val="F8FAFC"/>
                </a:solidFill>
                <a:latin typeface="Calibri"/>
              </a:rPr>
              <a:t>• Same small network change + sensitive P&amp;L upload OR price change → Agent STEP-UPS — financial risk raises the bar.</a:t>
            </a:r>
          </a:p>
          <a:p>
            <a:pPr algn="l">
              <a:spcAft>
                <a:spcPts val="600"/>
              </a:spcAft>
            </a:pPr>
            <a:r>
              <a:rPr sz="1600" b="0" dirty="0">
                <a:solidFill>
                  <a:srgbClr val="F8FAFC"/>
                </a:solidFill>
                <a:latin typeface="Calibri"/>
              </a:rPr>
              <a:t>• SIM/device swap (any action) → Agent FREEZES — SMS OTP is untrusted after swap.</a:t>
            </a:r>
          </a:p>
          <a:p>
            <a:pPr algn="l">
              <a:spcAft>
                <a:spcPts val="600"/>
              </a:spcAft>
            </a:pPr>
            <a:r>
              <a:rPr sz="1600" b="0" dirty="0">
                <a:solidFill>
                  <a:srgbClr val="F8FAFC"/>
                </a:solidFill>
                <a:latin typeface="Calibri"/>
              </a:rPr>
              <a:t>• Tools are CAMARA APIs; the brain is </a:t>
            </a:r>
            <a:r>
              <a:rPr sz="1600" b="0" dirty="0" err="1">
                <a:solidFill>
                  <a:srgbClr val="F8FAFC"/>
                </a:solidFill>
                <a:latin typeface="Calibri"/>
              </a:rPr>
              <a:t>policy.ts</a:t>
            </a:r>
            <a:r>
              <a:rPr sz="1600" b="0" dirty="0">
                <a:solidFill>
                  <a:srgbClr val="F8FAFC"/>
                </a:solidFill>
                <a:latin typeface="Calibri"/>
              </a:rPr>
              <a:t> fused with </a:t>
            </a:r>
            <a:r>
              <a:rPr sz="1600" b="0" dirty="0" err="1">
                <a:solidFill>
                  <a:srgbClr val="F8FAFC"/>
                </a:solidFill>
                <a:latin typeface="Calibri"/>
              </a:rPr>
              <a:t>financialSuspicion</a:t>
            </a:r>
            <a:r>
              <a:rPr sz="1600" b="0" dirty="0">
                <a:solidFill>
                  <a:srgbClr val="F8FAFC"/>
                </a:solidFill>
                <a:latin typeface="Calibri"/>
              </a:rPr>
              <a:t> (file size, dump names, new account + large file). That fusion is the agent.</a:t>
            </a:r>
          </a:p>
        </p:txBody>
      </p:sp>
      <p:sp>
        <p:nvSpPr>
          <p:cNvPr id="23" name="TextBox 22"/>
          <p:cNvSpPr txBox="1"/>
          <p:nvPr/>
        </p:nvSpPr>
        <p:spPr>
          <a:xfrm>
            <a:off x="457200" y="6510528"/>
            <a:ext cx="8229600" cy="256032"/>
          </a:xfrm>
          <a:prstGeom prst="rect">
            <a:avLst/>
          </a:prstGeom>
          <a:noFill/>
        </p:spPr>
        <p:txBody>
          <a:bodyPr wrap="square">
            <a:spAutoFit/>
          </a:bodyPr>
          <a:lstStyle/>
          <a:p>
            <a:pPr algn="l"/>
            <a:r>
              <a:rPr sz="1000" b="0">
                <a:solidFill>
                  <a:srgbClr val="94A3B8"/>
                </a:solidFill>
                <a:latin typeface="Calibri"/>
              </a:rPr>
              <a:t>Smart Profits  ·  GSMA MENA Ignite  ·  Theme 4  ·  Nokia Network-as-Code</a:t>
            </a:r>
          </a:p>
        </p:txBody>
      </p:sp>
      <p:sp>
        <p:nvSpPr>
          <p:cNvPr id="24" name="TextBox 23"/>
          <p:cNvSpPr txBox="1"/>
          <p:nvPr/>
        </p:nvSpPr>
        <p:spPr>
          <a:xfrm>
            <a:off x="10424160" y="6510528"/>
            <a:ext cx="1280160" cy="256032"/>
          </a:xfrm>
          <a:prstGeom prst="rect">
            <a:avLst/>
          </a:prstGeom>
          <a:noFill/>
        </p:spPr>
        <p:txBody>
          <a:bodyPr wrap="square">
            <a:spAutoFit/>
          </a:bodyPr>
          <a:lstStyle/>
          <a:p>
            <a:pPr algn="r"/>
            <a:r>
              <a:rPr sz="1000" b="0">
                <a:solidFill>
                  <a:srgbClr val="94A3B8"/>
                </a:solidFill>
                <a:latin typeface="Calibri"/>
              </a:rPr>
              <a:t>09 / 19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56032"/>
            <a:ext cx="10972800" cy="292608"/>
          </a:xfrm>
          <a:prstGeom prst="rect">
            <a:avLst/>
          </a:prstGeom>
          <a:noFill/>
        </p:spPr>
        <p:txBody>
          <a:bodyPr wrap="square">
            <a:spAutoFit/>
          </a:bodyPr>
          <a:lstStyle/>
          <a:p>
            <a:pPr algn="l"/>
            <a:r>
              <a:rPr sz="1100" b="1">
                <a:solidFill>
                  <a:srgbClr val="4FD1C5"/>
                </a:solidFill>
                <a:latin typeface="Calibri"/>
              </a:rPr>
              <a:t>7. TECHNICAL ARCHITECTURE</a:t>
            </a:r>
          </a:p>
        </p:txBody>
      </p:sp>
      <p:sp>
        <p:nvSpPr>
          <p:cNvPr id="6" name="TextBox 5"/>
          <p:cNvSpPr txBox="1"/>
          <p:nvPr/>
        </p:nvSpPr>
        <p:spPr>
          <a:xfrm>
            <a:off x="502920" y="530352"/>
            <a:ext cx="11155680" cy="594360"/>
          </a:xfrm>
          <a:prstGeom prst="rect">
            <a:avLst/>
          </a:prstGeom>
          <a:noFill/>
        </p:spPr>
        <p:txBody>
          <a:bodyPr wrap="square">
            <a:spAutoFit/>
          </a:bodyPr>
          <a:lstStyle/>
          <a:p>
            <a:pPr algn="l"/>
            <a:r>
              <a:rPr sz="2600" b="1">
                <a:solidFill>
                  <a:srgbClr val="F8FAFC"/>
                </a:solidFill>
                <a:latin typeface="Calibri"/>
              </a:rPr>
              <a:t>Production-ready stack — not a hackathon script</a:t>
            </a:r>
          </a:p>
        </p:txBody>
      </p:sp>
      <p:sp>
        <p:nvSpPr>
          <p:cNvPr id="7" name="Rounded Rectangle 6"/>
          <p:cNvSpPr/>
          <p:nvPr/>
        </p:nvSpPr>
        <p:spPr>
          <a:xfrm>
            <a:off x="457200" y="1298448"/>
            <a:ext cx="11247120" cy="96012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8" name="TextBox 7"/>
          <p:cNvSpPr txBox="1"/>
          <p:nvPr/>
        </p:nvSpPr>
        <p:spPr>
          <a:xfrm>
            <a:off x="621792" y="1435607"/>
            <a:ext cx="10927080" cy="307777"/>
          </a:xfrm>
          <a:prstGeom prst="rect">
            <a:avLst/>
          </a:prstGeom>
          <a:noFill/>
        </p:spPr>
        <p:txBody>
          <a:bodyPr wrap="square">
            <a:spAutoFit/>
          </a:bodyPr>
          <a:lstStyle/>
          <a:p>
            <a:pPr algn="l"/>
            <a:r>
              <a:rPr sz="1400" b="0">
                <a:solidFill>
                  <a:srgbClr val="F8FAFC"/>
                </a:solidFill>
                <a:latin typeface="Calibri"/>
              </a:rPr>
              <a:t>Merchant UI  ·  Next.js / TypeScript  ·  Arabic RTL + English  ·  Dashboard · Advisor · Upload · Admin</a:t>
            </a:r>
          </a:p>
        </p:txBody>
      </p:sp>
      <p:sp>
        <p:nvSpPr>
          <p:cNvPr id="9" name="Rounded Rectangle 8"/>
          <p:cNvSpPr/>
          <p:nvPr/>
        </p:nvSpPr>
        <p:spPr>
          <a:xfrm>
            <a:off x="457200" y="2423160"/>
            <a:ext cx="5486400" cy="114300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0" name="TextBox 9"/>
          <p:cNvSpPr txBox="1"/>
          <p:nvPr/>
        </p:nvSpPr>
        <p:spPr>
          <a:xfrm>
            <a:off x="621792" y="2560320"/>
            <a:ext cx="5166360" cy="738664"/>
          </a:xfrm>
          <a:prstGeom prst="rect">
            <a:avLst/>
          </a:prstGeom>
          <a:noFill/>
        </p:spPr>
        <p:txBody>
          <a:bodyPr wrap="square">
            <a:spAutoFit/>
          </a:bodyPr>
          <a:lstStyle/>
          <a:p>
            <a:pPr algn="l"/>
            <a:r>
              <a:rPr sz="1400" b="0">
                <a:solidFill>
                  <a:srgbClr val="F8FAFC"/>
                </a:solidFill>
                <a:latin typeface="Calibri"/>
              </a:rPr>
              <a:t>Smart Guard AI Agent
server/smart-guard/  ·  enforce.ts fail-closed
Allow / Step-up / Freeze</a:t>
            </a:r>
          </a:p>
        </p:txBody>
      </p:sp>
      <p:sp>
        <p:nvSpPr>
          <p:cNvPr id="11" name="Rounded Rectangle 10"/>
          <p:cNvSpPr/>
          <p:nvPr/>
        </p:nvSpPr>
        <p:spPr>
          <a:xfrm>
            <a:off x="6217920" y="2423160"/>
            <a:ext cx="5486400" cy="114300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2" name="TextBox 11"/>
          <p:cNvSpPr txBox="1"/>
          <p:nvPr/>
        </p:nvSpPr>
        <p:spPr>
          <a:xfrm>
            <a:off x="6382512" y="2560320"/>
            <a:ext cx="5166360" cy="523220"/>
          </a:xfrm>
          <a:prstGeom prst="rect">
            <a:avLst/>
          </a:prstGeom>
          <a:noFill/>
        </p:spPr>
        <p:txBody>
          <a:bodyPr wrap="square">
            <a:spAutoFit/>
          </a:bodyPr>
          <a:lstStyle/>
          <a:p>
            <a:pPr algn="l"/>
            <a:r>
              <a:rPr sz="1400" b="0">
                <a:solidFill>
                  <a:srgbClr val="F8FAFC"/>
                </a:solidFill>
                <a:latin typeface="Calibri"/>
              </a:rPr>
              <a:t>Financial engine
Excel/CSV/PDF parse · P&amp;L · leaks · Q&amp;A on open file</a:t>
            </a:r>
          </a:p>
        </p:txBody>
      </p:sp>
      <p:sp>
        <p:nvSpPr>
          <p:cNvPr id="13" name="Rounded Rectangle 12"/>
          <p:cNvSpPr/>
          <p:nvPr/>
        </p:nvSpPr>
        <p:spPr>
          <a:xfrm>
            <a:off x="457200" y="3794760"/>
            <a:ext cx="3566160" cy="109728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4" name="TextBox 13"/>
          <p:cNvSpPr txBox="1"/>
          <p:nvPr/>
        </p:nvSpPr>
        <p:spPr>
          <a:xfrm>
            <a:off x="621792" y="3931920"/>
            <a:ext cx="3246120" cy="523220"/>
          </a:xfrm>
          <a:prstGeom prst="rect">
            <a:avLst/>
          </a:prstGeom>
          <a:noFill/>
        </p:spPr>
        <p:txBody>
          <a:bodyPr wrap="square">
            <a:spAutoFit/>
          </a:bodyPr>
          <a:lstStyle/>
          <a:p>
            <a:pPr algn="l"/>
            <a:r>
              <a:rPr sz="1400" b="0">
                <a:solidFill>
                  <a:srgbClr val="F8FAFC"/>
                </a:solidFill>
                <a:latin typeface="Calibri"/>
              </a:rPr>
              <a:t>PostgreSQL
Users · files · guard_decisions log</a:t>
            </a:r>
          </a:p>
        </p:txBody>
      </p:sp>
      <p:sp>
        <p:nvSpPr>
          <p:cNvPr id="15" name="Rounded Rectangle 14"/>
          <p:cNvSpPr/>
          <p:nvPr/>
        </p:nvSpPr>
        <p:spPr>
          <a:xfrm>
            <a:off x="4206240" y="3794760"/>
            <a:ext cx="3657600" cy="109728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6" name="TextBox 15"/>
          <p:cNvSpPr txBox="1"/>
          <p:nvPr/>
        </p:nvSpPr>
        <p:spPr>
          <a:xfrm>
            <a:off x="4370831" y="3931920"/>
            <a:ext cx="3337560" cy="738664"/>
          </a:xfrm>
          <a:prstGeom prst="rect">
            <a:avLst/>
          </a:prstGeom>
          <a:noFill/>
        </p:spPr>
        <p:txBody>
          <a:bodyPr wrap="square">
            <a:spAutoFit/>
          </a:bodyPr>
          <a:lstStyle/>
          <a:p>
            <a:pPr algn="l"/>
            <a:r>
              <a:rPr sz="1400" b="0">
                <a:solidFill>
                  <a:srgbClr val="F8FAFC"/>
                </a:solidFill>
                <a:latin typeface="Calibri"/>
              </a:rPr>
              <a:t>nokia-adapter.ts
Live RapidAPI + structured [nac-live] audit logs</a:t>
            </a:r>
          </a:p>
        </p:txBody>
      </p:sp>
      <p:sp>
        <p:nvSpPr>
          <p:cNvPr id="17" name="Rounded Rectangle 16"/>
          <p:cNvSpPr/>
          <p:nvPr/>
        </p:nvSpPr>
        <p:spPr>
          <a:xfrm>
            <a:off x="8092440" y="3794760"/>
            <a:ext cx="3611880" cy="109728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8" name="TextBox 17"/>
          <p:cNvSpPr txBox="1"/>
          <p:nvPr/>
        </p:nvSpPr>
        <p:spPr>
          <a:xfrm>
            <a:off x="8257031" y="3931920"/>
            <a:ext cx="3291840" cy="523220"/>
          </a:xfrm>
          <a:prstGeom prst="rect">
            <a:avLst/>
          </a:prstGeom>
          <a:noFill/>
        </p:spPr>
        <p:txBody>
          <a:bodyPr wrap="square">
            <a:spAutoFit/>
          </a:bodyPr>
          <a:lstStyle/>
          <a:p>
            <a:pPr algn="l"/>
            <a:r>
              <a:rPr sz="1400" b="0">
                <a:solidFill>
                  <a:srgbClr val="F8FAFC"/>
                </a:solidFill>
                <a:latin typeface="Calibri"/>
              </a:rPr>
              <a:t>Nokia Network-as-Code
CAMARA passthrough endpoints</a:t>
            </a:r>
          </a:p>
        </p:txBody>
      </p:sp>
      <p:sp>
        <p:nvSpPr>
          <p:cNvPr id="19" name="TextBox 18"/>
          <p:cNvSpPr txBox="1"/>
          <p:nvPr/>
        </p:nvSpPr>
        <p:spPr>
          <a:xfrm>
            <a:off x="502920" y="5074920"/>
            <a:ext cx="11155680" cy="1097280"/>
          </a:xfrm>
          <a:prstGeom prst="rect">
            <a:avLst/>
          </a:prstGeom>
          <a:noFill/>
        </p:spPr>
        <p:txBody>
          <a:bodyPr wrap="square">
            <a:spAutoFit/>
          </a:bodyPr>
          <a:lstStyle/>
          <a:p>
            <a:pPr algn="l"/>
            <a:r>
              <a:rPr sz="1200" b="0" dirty="0">
                <a:solidFill>
                  <a:srgbClr val="4FD1C5"/>
                </a:solidFill>
                <a:latin typeface="Calibri"/>
              </a:rPr>
              <a:t>Security: NAC_API_KEY server-only · CSRF same-origin · </a:t>
            </a:r>
            <a:r>
              <a:rPr sz="1200" b="0" dirty="0" err="1">
                <a:solidFill>
                  <a:srgbClr val="4FD1C5"/>
                </a:solidFill>
                <a:latin typeface="Calibri"/>
              </a:rPr>
              <a:t>scrypt</a:t>
            </a:r>
            <a:r>
              <a:rPr sz="1200" b="0" dirty="0">
                <a:solidFill>
                  <a:srgbClr val="4FD1C5"/>
                </a:solidFill>
                <a:latin typeface="Calibri"/>
              </a:rPr>
              <a:t> passwords · guard logs with IP/UA · admin Smart Guard status dashboard.
Repository: https://github.com/israahamed765/Smart-Profits</a:t>
            </a:r>
          </a:p>
        </p:txBody>
      </p:sp>
      <p:sp>
        <p:nvSpPr>
          <p:cNvPr id="20" name="TextBox 19"/>
          <p:cNvSpPr txBox="1"/>
          <p:nvPr/>
        </p:nvSpPr>
        <p:spPr>
          <a:xfrm>
            <a:off x="457200" y="6510528"/>
            <a:ext cx="8229600" cy="256032"/>
          </a:xfrm>
          <a:prstGeom prst="rect">
            <a:avLst/>
          </a:prstGeom>
          <a:noFill/>
        </p:spPr>
        <p:txBody>
          <a:bodyPr wrap="square">
            <a:spAutoFit/>
          </a:bodyPr>
          <a:lstStyle/>
          <a:p>
            <a:pPr algn="l"/>
            <a:r>
              <a:rPr sz="1000" b="0">
                <a:solidFill>
                  <a:srgbClr val="94A3B8"/>
                </a:solidFill>
                <a:latin typeface="Calibri"/>
              </a:rPr>
              <a:t>Smart Profits  ·  GSMA MENA Ignite  ·  Theme 4  ·  Nokia Network-as-Code</a:t>
            </a:r>
          </a:p>
        </p:txBody>
      </p:sp>
      <p:sp>
        <p:nvSpPr>
          <p:cNvPr id="21" name="TextBox 20"/>
          <p:cNvSpPr txBox="1"/>
          <p:nvPr/>
        </p:nvSpPr>
        <p:spPr>
          <a:xfrm>
            <a:off x="10424160" y="6510528"/>
            <a:ext cx="1280160" cy="256032"/>
          </a:xfrm>
          <a:prstGeom prst="rect">
            <a:avLst/>
          </a:prstGeom>
          <a:noFill/>
        </p:spPr>
        <p:txBody>
          <a:bodyPr wrap="square">
            <a:spAutoFit/>
          </a:bodyPr>
          <a:lstStyle/>
          <a:p>
            <a:pPr algn="r"/>
            <a:r>
              <a:rPr sz="1000" b="0">
                <a:solidFill>
                  <a:srgbClr val="94A3B8"/>
                </a:solidFill>
                <a:latin typeface="Calibri"/>
              </a:rPr>
              <a:t>10 / 19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56032"/>
            <a:ext cx="10972800" cy="292608"/>
          </a:xfrm>
          <a:prstGeom prst="rect">
            <a:avLst/>
          </a:prstGeom>
          <a:noFill/>
        </p:spPr>
        <p:txBody>
          <a:bodyPr wrap="square">
            <a:spAutoFit/>
          </a:bodyPr>
          <a:lstStyle/>
          <a:p>
            <a:pPr algn="l"/>
            <a:r>
              <a:rPr sz="1100" b="1">
                <a:solidFill>
                  <a:srgbClr val="4FD1C5"/>
                </a:solidFill>
                <a:latin typeface="Calibri"/>
              </a:rPr>
              <a:t>8. LIVE PROTOTYPE EVIDENCE</a:t>
            </a:r>
          </a:p>
        </p:txBody>
      </p:sp>
      <p:sp>
        <p:nvSpPr>
          <p:cNvPr id="6" name="TextBox 5"/>
          <p:cNvSpPr txBox="1"/>
          <p:nvPr/>
        </p:nvSpPr>
        <p:spPr>
          <a:xfrm>
            <a:off x="502920" y="530352"/>
            <a:ext cx="11155680" cy="594360"/>
          </a:xfrm>
          <a:prstGeom prst="rect">
            <a:avLst/>
          </a:prstGeom>
          <a:noFill/>
        </p:spPr>
        <p:txBody>
          <a:bodyPr wrap="square">
            <a:spAutoFit/>
          </a:bodyPr>
          <a:lstStyle/>
          <a:p>
            <a:pPr algn="l"/>
            <a:r>
              <a:rPr sz="2600" b="1">
                <a:solidFill>
                  <a:srgbClr val="F8FAFC"/>
                </a:solidFill>
                <a:latin typeface="Calibri"/>
              </a:rPr>
              <a:t>What judges can verify in code and logs</a:t>
            </a:r>
          </a:p>
        </p:txBody>
      </p:sp>
      <p:sp>
        <p:nvSpPr>
          <p:cNvPr id="7" name="Rounded Rectangle 6"/>
          <p:cNvSpPr/>
          <p:nvPr/>
        </p:nvSpPr>
        <p:spPr>
          <a:xfrm>
            <a:off x="457200" y="1325880"/>
            <a:ext cx="5532120" cy="214884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1453896"/>
            <a:ext cx="5166360" cy="310896"/>
          </a:xfrm>
          <a:prstGeom prst="rect">
            <a:avLst/>
          </a:prstGeom>
          <a:noFill/>
        </p:spPr>
        <p:txBody>
          <a:bodyPr wrap="square">
            <a:spAutoFit/>
          </a:bodyPr>
          <a:lstStyle/>
          <a:p>
            <a:pPr algn="l"/>
            <a:r>
              <a:rPr sz="1400" b="1">
                <a:solidFill>
                  <a:srgbClr val="E8C56B"/>
                </a:solidFill>
                <a:latin typeface="Calibri"/>
              </a:rPr>
              <a:t>Live Nokia RapidAPI</a:t>
            </a:r>
          </a:p>
        </p:txBody>
      </p:sp>
      <p:sp>
        <p:nvSpPr>
          <p:cNvPr id="9" name="TextBox 8"/>
          <p:cNvSpPr txBox="1"/>
          <p:nvPr/>
        </p:nvSpPr>
        <p:spPr>
          <a:xfrm>
            <a:off x="658368" y="1764792"/>
            <a:ext cx="5166360" cy="1600438"/>
          </a:xfrm>
          <a:prstGeom prst="rect">
            <a:avLst/>
          </a:prstGeom>
          <a:noFill/>
        </p:spPr>
        <p:txBody>
          <a:bodyPr wrap="square">
            <a:spAutoFit/>
          </a:bodyPr>
          <a:lstStyle/>
          <a:p>
            <a:pPr algn="l"/>
            <a:r>
              <a:rPr sz="1400" b="0">
                <a:solidFill>
                  <a:srgbClr val="F8FAFC"/>
                </a:solidFill>
                <a:latin typeface="Calibri"/>
              </a:rPr>
              <a:t>[nac-live] nacMode=live provider=Nokia transport=RapidAPI api=sim-swap status=200
[nac-live] api=device-swap status=200
[nac-live] api=number-verification status=401 → step-up (not fake success)
Provider failures ≠ business rejection — distinct error messages in enforce.ts</a:t>
            </a:r>
          </a:p>
        </p:txBody>
      </p:sp>
      <p:sp>
        <p:nvSpPr>
          <p:cNvPr id="10" name="Rounded Rectangle 9"/>
          <p:cNvSpPr/>
          <p:nvPr/>
        </p:nvSpPr>
        <p:spPr>
          <a:xfrm>
            <a:off x="6172200" y="1325880"/>
            <a:ext cx="5532120" cy="214884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73368" y="1453896"/>
            <a:ext cx="5166360" cy="310896"/>
          </a:xfrm>
          <a:prstGeom prst="rect">
            <a:avLst/>
          </a:prstGeom>
          <a:noFill/>
        </p:spPr>
        <p:txBody>
          <a:bodyPr wrap="square">
            <a:spAutoFit/>
          </a:bodyPr>
          <a:lstStyle/>
          <a:p>
            <a:pPr algn="l"/>
            <a:r>
              <a:rPr sz="1400" b="1">
                <a:solidFill>
                  <a:srgbClr val="E8C56B"/>
                </a:solidFill>
                <a:latin typeface="Calibri"/>
              </a:rPr>
              <a:t>Automated tests</a:t>
            </a:r>
          </a:p>
        </p:txBody>
      </p:sp>
      <p:sp>
        <p:nvSpPr>
          <p:cNvPr id="12" name="TextBox 11"/>
          <p:cNvSpPr txBox="1"/>
          <p:nvPr/>
        </p:nvSpPr>
        <p:spPr>
          <a:xfrm>
            <a:off x="6373368" y="1764792"/>
            <a:ext cx="5166360" cy="738664"/>
          </a:xfrm>
          <a:prstGeom prst="rect">
            <a:avLst/>
          </a:prstGeom>
          <a:noFill/>
        </p:spPr>
        <p:txBody>
          <a:bodyPr wrap="square">
            <a:spAutoFit/>
          </a:bodyPr>
          <a:lstStyle/>
          <a:p>
            <a:pPr algn="l"/>
            <a:r>
              <a:rPr sz="1400" b="0">
                <a:solidFill>
                  <a:srgbClr val="F8FAFC"/>
                </a:solidFill>
                <a:latin typeface="Calibri"/>
              </a:rPr>
              <a:t>tests/nac-provider.test.ts — live mapper, auth/404 handling
tests/smart-guard-policy.test.ts — Allow/Step-up/Freeze policy
tests/backend-guard.test.ts — server enforcement fail-closed</a:t>
            </a:r>
          </a:p>
        </p:txBody>
      </p:sp>
      <p:sp>
        <p:nvSpPr>
          <p:cNvPr id="13" name="Rounded Rectangle 12"/>
          <p:cNvSpPr/>
          <p:nvPr/>
        </p:nvSpPr>
        <p:spPr>
          <a:xfrm>
            <a:off x="457200" y="3657600"/>
            <a:ext cx="11247120" cy="214884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58368" y="3785616"/>
            <a:ext cx="10881360" cy="310896"/>
          </a:xfrm>
          <a:prstGeom prst="rect">
            <a:avLst/>
          </a:prstGeom>
          <a:noFill/>
        </p:spPr>
        <p:txBody>
          <a:bodyPr wrap="square">
            <a:spAutoFit/>
          </a:bodyPr>
          <a:lstStyle/>
          <a:p>
            <a:pPr algn="l"/>
            <a:r>
              <a:rPr sz="1400" b="1">
                <a:solidFill>
                  <a:srgbClr val="E8C56B"/>
                </a:solidFill>
                <a:latin typeface="Calibri"/>
              </a:rPr>
              <a:t>Demo numbers (Nokia official sandbox MSISDNs)</a:t>
            </a:r>
          </a:p>
        </p:txBody>
      </p:sp>
      <p:sp>
        <p:nvSpPr>
          <p:cNvPr id="15" name="TextBox 14"/>
          <p:cNvSpPr txBox="1"/>
          <p:nvPr/>
        </p:nvSpPr>
        <p:spPr>
          <a:xfrm>
            <a:off x="658368" y="4096512"/>
            <a:ext cx="10881360" cy="1581912"/>
          </a:xfrm>
          <a:prstGeom prst="rect">
            <a:avLst/>
          </a:prstGeom>
          <a:noFill/>
        </p:spPr>
        <p:txBody>
          <a:bodyPr wrap="square">
            <a:spAutoFit/>
          </a:bodyPr>
          <a:lstStyle/>
          <a:p>
            <a:pPr algn="l"/>
            <a:r>
              <a:rPr sz="1300" b="0">
                <a:solidFill>
                  <a:srgbClr val="F8FAFC"/>
                </a:solidFill>
                <a:latin typeface="Calibri"/>
              </a:rPr>
              <a:t>+99999991001 → clean path (register + analytics)
+99999991000 → SIM/device swap → account FREEZE
+99999991002 → location PARTIAL → step-up on file upload
+99999991003 → location UNKNOWN (live API only)
Step-up code: network challenge (6 digits) — shown in dev demo inbox; not spoofable SMS.</a:t>
            </a:r>
          </a:p>
        </p:txBody>
      </p:sp>
      <p:sp>
        <p:nvSpPr>
          <p:cNvPr id="16" name="TextBox 15"/>
          <p:cNvSpPr txBox="1"/>
          <p:nvPr/>
        </p:nvSpPr>
        <p:spPr>
          <a:xfrm>
            <a:off x="457200" y="6510528"/>
            <a:ext cx="8229600" cy="256032"/>
          </a:xfrm>
          <a:prstGeom prst="rect">
            <a:avLst/>
          </a:prstGeom>
          <a:noFill/>
        </p:spPr>
        <p:txBody>
          <a:bodyPr wrap="square">
            <a:spAutoFit/>
          </a:bodyPr>
          <a:lstStyle/>
          <a:p>
            <a:pPr algn="l"/>
            <a:r>
              <a:rPr sz="1000" b="0">
                <a:solidFill>
                  <a:srgbClr val="94A3B8"/>
                </a:solidFill>
                <a:latin typeface="Calibri"/>
              </a:rPr>
              <a:t>Smart Profits  ·  GSMA MENA Ignite  ·  Theme 4  ·  Nokia Network-as-Code</a:t>
            </a:r>
          </a:p>
        </p:txBody>
      </p:sp>
      <p:sp>
        <p:nvSpPr>
          <p:cNvPr id="17" name="TextBox 16"/>
          <p:cNvSpPr txBox="1"/>
          <p:nvPr/>
        </p:nvSpPr>
        <p:spPr>
          <a:xfrm>
            <a:off x="10424160" y="6510528"/>
            <a:ext cx="1280160" cy="256032"/>
          </a:xfrm>
          <a:prstGeom prst="rect">
            <a:avLst/>
          </a:prstGeom>
          <a:noFill/>
        </p:spPr>
        <p:txBody>
          <a:bodyPr wrap="square">
            <a:spAutoFit/>
          </a:bodyPr>
          <a:lstStyle/>
          <a:p>
            <a:pPr algn="r"/>
            <a:r>
              <a:rPr sz="1000" b="0">
                <a:solidFill>
                  <a:srgbClr val="94A3B8"/>
                </a:solidFill>
                <a:latin typeface="Calibri"/>
              </a:rPr>
              <a:t>11 / 19</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56032"/>
            <a:ext cx="10972800" cy="292608"/>
          </a:xfrm>
          <a:prstGeom prst="rect">
            <a:avLst/>
          </a:prstGeom>
          <a:noFill/>
        </p:spPr>
        <p:txBody>
          <a:bodyPr wrap="square">
            <a:spAutoFit/>
          </a:bodyPr>
          <a:lstStyle/>
          <a:p>
            <a:pPr algn="l"/>
            <a:r>
              <a:rPr sz="1100" b="1">
                <a:solidFill>
                  <a:srgbClr val="4FD1C5"/>
                </a:solidFill>
                <a:latin typeface="Calibri"/>
              </a:rPr>
              <a:t>9. DEMO WALKTHROUGH (3 MINUTES)</a:t>
            </a:r>
          </a:p>
        </p:txBody>
      </p:sp>
      <p:sp>
        <p:nvSpPr>
          <p:cNvPr id="6" name="TextBox 5"/>
          <p:cNvSpPr txBox="1"/>
          <p:nvPr/>
        </p:nvSpPr>
        <p:spPr>
          <a:xfrm>
            <a:off x="502920" y="530352"/>
            <a:ext cx="11155680" cy="594360"/>
          </a:xfrm>
          <a:prstGeom prst="rect">
            <a:avLst/>
          </a:prstGeom>
          <a:noFill/>
        </p:spPr>
        <p:txBody>
          <a:bodyPr wrap="square">
            <a:spAutoFit/>
          </a:bodyPr>
          <a:lstStyle/>
          <a:p>
            <a:pPr algn="l"/>
            <a:r>
              <a:rPr sz="2600" b="1">
                <a:solidFill>
                  <a:srgbClr val="F8FAFC"/>
                </a:solidFill>
                <a:latin typeface="Calibri"/>
              </a:rPr>
              <a:t>Three journeys judges should see</a:t>
            </a:r>
          </a:p>
        </p:txBody>
      </p:sp>
      <p:sp>
        <p:nvSpPr>
          <p:cNvPr id="7" name="Rounded Rectangle 6"/>
          <p:cNvSpPr/>
          <p:nvPr/>
        </p:nvSpPr>
        <p:spPr>
          <a:xfrm>
            <a:off x="457200" y="1298448"/>
            <a:ext cx="11247120" cy="987552"/>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389888"/>
            <a:ext cx="10972800" cy="292608"/>
          </a:xfrm>
          <a:prstGeom prst="rect">
            <a:avLst/>
          </a:prstGeom>
          <a:noFill/>
        </p:spPr>
        <p:txBody>
          <a:bodyPr wrap="square">
            <a:spAutoFit/>
          </a:bodyPr>
          <a:lstStyle/>
          <a:p>
            <a:pPr algn="l"/>
            <a:r>
              <a:rPr sz="1600" b="1">
                <a:solidFill>
                  <a:srgbClr val="E8C56B"/>
                </a:solidFill>
                <a:latin typeface="Calibri"/>
              </a:rPr>
              <a:t>Journey A — Trusted merchant</a:t>
            </a:r>
          </a:p>
        </p:txBody>
      </p:sp>
      <p:sp>
        <p:nvSpPr>
          <p:cNvPr id="9" name="TextBox 8"/>
          <p:cNvSpPr txBox="1"/>
          <p:nvPr/>
        </p:nvSpPr>
        <p:spPr>
          <a:xfrm>
            <a:off x="685800" y="1709928"/>
            <a:ext cx="10789920" cy="502920"/>
          </a:xfrm>
          <a:prstGeom prst="rect">
            <a:avLst/>
          </a:prstGeom>
          <a:noFill/>
        </p:spPr>
        <p:txBody>
          <a:bodyPr wrap="square">
            <a:spAutoFit/>
          </a:bodyPr>
          <a:lstStyle/>
          <a:p>
            <a:pPr algn="l"/>
            <a:r>
              <a:rPr sz="1300" b="0">
                <a:solidFill>
                  <a:srgbClr val="F8FAFC"/>
                </a:solidFill>
                <a:latin typeface="Calibri"/>
              </a:rPr>
              <a:t>+99999991001 · new email · upload messy Excel · advisor: highest profit SKU · phantom vs real net profit · ALLOW</a:t>
            </a:r>
          </a:p>
        </p:txBody>
      </p:sp>
      <p:sp>
        <p:nvSpPr>
          <p:cNvPr id="10" name="Rounded Rectangle 9"/>
          <p:cNvSpPr/>
          <p:nvPr/>
        </p:nvSpPr>
        <p:spPr>
          <a:xfrm>
            <a:off x="457200" y="2414016"/>
            <a:ext cx="11247120" cy="987552"/>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505456"/>
            <a:ext cx="10972800" cy="292608"/>
          </a:xfrm>
          <a:prstGeom prst="rect">
            <a:avLst/>
          </a:prstGeom>
          <a:noFill/>
        </p:spPr>
        <p:txBody>
          <a:bodyPr wrap="square">
            <a:spAutoFit/>
          </a:bodyPr>
          <a:lstStyle/>
          <a:p>
            <a:pPr algn="l"/>
            <a:r>
              <a:rPr sz="1600" b="1">
                <a:solidFill>
                  <a:srgbClr val="E8C56B"/>
                </a:solidFill>
                <a:latin typeface="Calibri"/>
              </a:rPr>
              <a:t>Journey B — SIM swap attack</a:t>
            </a:r>
          </a:p>
        </p:txBody>
      </p:sp>
      <p:sp>
        <p:nvSpPr>
          <p:cNvPr id="12" name="TextBox 11"/>
          <p:cNvSpPr txBox="1"/>
          <p:nvPr/>
        </p:nvSpPr>
        <p:spPr>
          <a:xfrm>
            <a:off x="685800" y="2825496"/>
            <a:ext cx="10789920" cy="502920"/>
          </a:xfrm>
          <a:prstGeom prst="rect">
            <a:avLst/>
          </a:prstGeom>
          <a:noFill/>
        </p:spPr>
        <p:txBody>
          <a:bodyPr wrap="square">
            <a:spAutoFit/>
          </a:bodyPr>
          <a:lstStyle/>
          <a:p>
            <a:pPr algn="l"/>
            <a:r>
              <a:rPr sz="1300" b="0">
                <a:solidFill>
                  <a:srgbClr val="F8FAFC"/>
                </a:solidFill>
                <a:latin typeface="Calibri"/>
              </a:rPr>
              <a:t>+99999991000 · login or register · Smart Guard FREEZE · upload/export disabled · Arabic/EN explanation · SMS untrusted</a:t>
            </a:r>
          </a:p>
        </p:txBody>
      </p:sp>
      <p:sp>
        <p:nvSpPr>
          <p:cNvPr id="13" name="Rounded Rectangle 12"/>
          <p:cNvSpPr/>
          <p:nvPr/>
        </p:nvSpPr>
        <p:spPr>
          <a:xfrm>
            <a:off x="457200" y="3529584"/>
            <a:ext cx="11247120" cy="987552"/>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3621024"/>
            <a:ext cx="10972800" cy="292608"/>
          </a:xfrm>
          <a:prstGeom prst="rect">
            <a:avLst/>
          </a:prstGeom>
          <a:noFill/>
        </p:spPr>
        <p:txBody>
          <a:bodyPr wrap="square">
            <a:spAutoFit/>
          </a:bodyPr>
          <a:lstStyle/>
          <a:p>
            <a:pPr algn="l"/>
            <a:r>
              <a:rPr sz="1600" b="1">
                <a:solidFill>
                  <a:srgbClr val="E8C56B"/>
                </a:solidFill>
                <a:latin typeface="Calibri"/>
              </a:rPr>
              <a:t>Journey C — Location mismatch</a:t>
            </a:r>
          </a:p>
        </p:txBody>
      </p:sp>
      <p:sp>
        <p:nvSpPr>
          <p:cNvPr id="15" name="TextBox 14"/>
          <p:cNvSpPr txBox="1"/>
          <p:nvPr/>
        </p:nvSpPr>
        <p:spPr>
          <a:xfrm>
            <a:off x="685800" y="3941064"/>
            <a:ext cx="10789920" cy="502920"/>
          </a:xfrm>
          <a:prstGeom prst="rect">
            <a:avLst/>
          </a:prstGeom>
          <a:noFill/>
        </p:spPr>
        <p:txBody>
          <a:bodyPr wrap="square">
            <a:spAutoFit/>
          </a:bodyPr>
          <a:lstStyle/>
          <a:p>
            <a:pPr algn="l"/>
            <a:r>
              <a:rPr sz="1300" b="0">
                <a:solidFill>
                  <a:srgbClr val="F8FAFC"/>
                </a:solidFill>
                <a:latin typeface="Calibri"/>
              </a:rPr>
              <a:t>+99999991002 · upload financial file · Location Verification PARTIAL · STEP-UP network code · file blocked until verified</a:t>
            </a:r>
          </a:p>
        </p:txBody>
      </p:sp>
      <p:sp>
        <p:nvSpPr>
          <p:cNvPr id="16" name="TextBox 15"/>
          <p:cNvSpPr txBox="1"/>
          <p:nvPr/>
        </p:nvSpPr>
        <p:spPr>
          <a:xfrm>
            <a:off x="502920" y="4709160"/>
            <a:ext cx="11155680" cy="1234440"/>
          </a:xfrm>
          <a:prstGeom prst="rect">
            <a:avLst/>
          </a:prstGeom>
          <a:noFill/>
        </p:spPr>
        <p:txBody>
          <a:bodyPr wrap="square">
            <a:spAutoFit/>
          </a:bodyPr>
          <a:lstStyle/>
          <a:p>
            <a:pPr algn="l"/>
            <a:r>
              <a:rPr sz="1300" b="0">
                <a:solidFill>
                  <a:srgbClr val="4FD1C5"/>
                </a:solidFill>
                <a:latin typeface="Calibri"/>
              </a:rPr>
              <a:t>Links for judges:
GitHub: https://github.com/israahamed765/Smart-Profits
Studio: https://bitsandbytesdude.vercel.app/
Live demo URL: [deploy before submission — Railway/Vercel + NAC_API_KEY + PostgreSQL]</a:t>
            </a:r>
          </a:p>
        </p:txBody>
      </p:sp>
      <p:sp>
        <p:nvSpPr>
          <p:cNvPr id="17" name="TextBox 16"/>
          <p:cNvSpPr txBox="1"/>
          <p:nvPr/>
        </p:nvSpPr>
        <p:spPr>
          <a:xfrm>
            <a:off x="457200" y="6510528"/>
            <a:ext cx="8229600" cy="256032"/>
          </a:xfrm>
          <a:prstGeom prst="rect">
            <a:avLst/>
          </a:prstGeom>
          <a:noFill/>
        </p:spPr>
        <p:txBody>
          <a:bodyPr wrap="square">
            <a:spAutoFit/>
          </a:bodyPr>
          <a:lstStyle/>
          <a:p>
            <a:pPr algn="l"/>
            <a:r>
              <a:rPr sz="1000" b="0">
                <a:solidFill>
                  <a:srgbClr val="94A3B8"/>
                </a:solidFill>
                <a:latin typeface="Calibri"/>
              </a:rPr>
              <a:t>Smart Profits  ·  GSMA MENA Ignite  ·  Theme 4  ·  Nokia Network-as-Code</a:t>
            </a:r>
          </a:p>
        </p:txBody>
      </p:sp>
      <p:sp>
        <p:nvSpPr>
          <p:cNvPr id="18" name="TextBox 17"/>
          <p:cNvSpPr txBox="1"/>
          <p:nvPr/>
        </p:nvSpPr>
        <p:spPr>
          <a:xfrm>
            <a:off x="10424160" y="6510528"/>
            <a:ext cx="1280160" cy="256032"/>
          </a:xfrm>
          <a:prstGeom prst="rect">
            <a:avLst/>
          </a:prstGeom>
          <a:noFill/>
        </p:spPr>
        <p:txBody>
          <a:bodyPr wrap="square">
            <a:spAutoFit/>
          </a:bodyPr>
          <a:lstStyle/>
          <a:p>
            <a:pPr algn="r"/>
            <a:r>
              <a:rPr sz="1000" b="0">
                <a:solidFill>
                  <a:srgbClr val="94A3B8"/>
                </a:solidFill>
                <a:latin typeface="Calibri"/>
              </a:rPr>
              <a:t>12 / 19</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56032"/>
            <a:ext cx="10972800" cy="292608"/>
          </a:xfrm>
          <a:prstGeom prst="rect">
            <a:avLst/>
          </a:prstGeom>
          <a:noFill/>
        </p:spPr>
        <p:txBody>
          <a:bodyPr wrap="square">
            <a:spAutoFit/>
          </a:bodyPr>
          <a:lstStyle/>
          <a:p>
            <a:pPr algn="l"/>
            <a:r>
              <a:rPr sz="1100" b="1">
                <a:solidFill>
                  <a:srgbClr val="4FD1C5"/>
                </a:solidFill>
                <a:latin typeface="Calibri"/>
              </a:rPr>
              <a:t>10. PRODUCT SCREENSHOTS</a:t>
            </a:r>
          </a:p>
        </p:txBody>
      </p:sp>
      <p:sp>
        <p:nvSpPr>
          <p:cNvPr id="6" name="TextBox 5"/>
          <p:cNvSpPr txBox="1"/>
          <p:nvPr/>
        </p:nvSpPr>
        <p:spPr>
          <a:xfrm>
            <a:off x="502920" y="530352"/>
            <a:ext cx="11155680" cy="594360"/>
          </a:xfrm>
          <a:prstGeom prst="rect">
            <a:avLst/>
          </a:prstGeom>
          <a:noFill/>
        </p:spPr>
        <p:txBody>
          <a:bodyPr wrap="square">
            <a:spAutoFit/>
          </a:bodyPr>
          <a:lstStyle/>
          <a:p>
            <a:pPr algn="l"/>
            <a:r>
              <a:rPr sz="2600" b="1">
                <a:solidFill>
                  <a:srgbClr val="F8FAFC"/>
                </a:solidFill>
                <a:latin typeface="Calibri"/>
              </a:rPr>
              <a:t>Working merchant SaaS — bilingual, dark/light, file-grounded AI</a:t>
            </a:r>
          </a:p>
        </p:txBody>
      </p:sp>
      <p:pic>
        <p:nvPicPr>
          <p:cNvPr id="7" name="Picture 6" descr="02-dashboard.png"/>
          <p:cNvPicPr>
            <a:picLocks noChangeAspect="1"/>
          </p:cNvPicPr>
          <p:nvPr/>
        </p:nvPicPr>
        <p:blipFill>
          <a:blip r:embed="rId2"/>
          <a:stretch>
            <a:fillRect/>
          </a:stretch>
        </p:blipFill>
        <p:spPr>
          <a:xfrm>
            <a:off x="411480" y="1261872"/>
            <a:ext cx="3703320" cy="1965960"/>
          </a:xfrm>
          <a:prstGeom prst="rect">
            <a:avLst/>
          </a:prstGeom>
        </p:spPr>
      </p:pic>
      <p:sp>
        <p:nvSpPr>
          <p:cNvPr id="8" name="TextBox 7"/>
          <p:cNvSpPr txBox="1"/>
          <p:nvPr/>
        </p:nvSpPr>
        <p:spPr>
          <a:xfrm>
            <a:off x="411480" y="3255264"/>
            <a:ext cx="3703320" cy="274320"/>
          </a:xfrm>
          <a:prstGeom prst="rect">
            <a:avLst/>
          </a:prstGeom>
          <a:noFill/>
        </p:spPr>
        <p:txBody>
          <a:bodyPr wrap="square">
            <a:spAutoFit/>
          </a:bodyPr>
          <a:lstStyle/>
          <a:p>
            <a:pPr algn="l"/>
            <a:r>
              <a:rPr sz="1000" b="1">
                <a:solidFill>
                  <a:srgbClr val="4FD1C5"/>
                </a:solidFill>
                <a:latin typeface="Calibri"/>
              </a:rPr>
              <a:t>Dashboard — health &amp; P&amp;L</a:t>
            </a:r>
          </a:p>
        </p:txBody>
      </p:sp>
      <p:pic>
        <p:nvPicPr>
          <p:cNvPr id="9" name="Picture 8" descr="03-advisor.png"/>
          <p:cNvPicPr>
            <a:picLocks noChangeAspect="1"/>
          </p:cNvPicPr>
          <p:nvPr/>
        </p:nvPicPr>
        <p:blipFill>
          <a:blip r:embed="rId3"/>
          <a:stretch>
            <a:fillRect/>
          </a:stretch>
        </p:blipFill>
        <p:spPr>
          <a:xfrm>
            <a:off x="4297680" y="1261872"/>
            <a:ext cx="3703320" cy="1965960"/>
          </a:xfrm>
          <a:prstGeom prst="rect">
            <a:avLst/>
          </a:prstGeom>
        </p:spPr>
      </p:pic>
      <p:sp>
        <p:nvSpPr>
          <p:cNvPr id="10" name="TextBox 9"/>
          <p:cNvSpPr txBox="1"/>
          <p:nvPr/>
        </p:nvSpPr>
        <p:spPr>
          <a:xfrm>
            <a:off x="4297680" y="3255264"/>
            <a:ext cx="3703320" cy="274320"/>
          </a:xfrm>
          <a:prstGeom prst="rect">
            <a:avLst/>
          </a:prstGeom>
          <a:noFill/>
        </p:spPr>
        <p:txBody>
          <a:bodyPr wrap="square">
            <a:spAutoFit/>
          </a:bodyPr>
          <a:lstStyle/>
          <a:p>
            <a:pPr algn="l"/>
            <a:r>
              <a:rPr sz="1000" b="1">
                <a:solidFill>
                  <a:srgbClr val="4FD1C5"/>
                </a:solidFill>
                <a:latin typeface="Calibri"/>
              </a:rPr>
              <a:t>Advisor — file-grounded Q&amp;A</a:t>
            </a:r>
          </a:p>
        </p:txBody>
      </p:sp>
      <p:pic>
        <p:nvPicPr>
          <p:cNvPr id="11" name="Picture 10" descr="04-data.png"/>
          <p:cNvPicPr>
            <a:picLocks noChangeAspect="1"/>
          </p:cNvPicPr>
          <p:nvPr/>
        </p:nvPicPr>
        <p:blipFill>
          <a:blip r:embed="rId4"/>
          <a:stretch>
            <a:fillRect/>
          </a:stretch>
        </p:blipFill>
        <p:spPr>
          <a:xfrm>
            <a:off x="8183880" y="1261872"/>
            <a:ext cx="3703320" cy="1965960"/>
          </a:xfrm>
          <a:prstGeom prst="rect">
            <a:avLst/>
          </a:prstGeom>
        </p:spPr>
      </p:pic>
      <p:sp>
        <p:nvSpPr>
          <p:cNvPr id="12" name="TextBox 11"/>
          <p:cNvSpPr txBox="1"/>
          <p:nvPr/>
        </p:nvSpPr>
        <p:spPr>
          <a:xfrm>
            <a:off x="8183880" y="3255264"/>
            <a:ext cx="3703320" cy="274320"/>
          </a:xfrm>
          <a:prstGeom prst="rect">
            <a:avLst/>
          </a:prstGeom>
          <a:noFill/>
        </p:spPr>
        <p:txBody>
          <a:bodyPr wrap="square">
            <a:spAutoFit/>
          </a:bodyPr>
          <a:lstStyle/>
          <a:p>
            <a:pPr algn="l"/>
            <a:r>
              <a:rPr sz="1000" b="1">
                <a:solidFill>
                  <a:srgbClr val="4FD1C5"/>
                </a:solidFill>
                <a:latin typeface="Calibri"/>
              </a:rPr>
              <a:t>Files — messy Excel cleaned</a:t>
            </a:r>
          </a:p>
        </p:txBody>
      </p:sp>
      <p:pic>
        <p:nvPicPr>
          <p:cNvPr id="13" name="Picture 12" descr="05-simulator.png"/>
          <p:cNvPicPr>
            <a:picLocks noChangeAspect="1"/>
          </p:cNvPicPr>
          <p:nvPr/>
        </p:nvPicPr>
        <p:blipFill>
          <a:blip r:embed="rId5"/>
          <a:stretch>
            <a:fillRect/>
          </a:stretch>
        </p:blipFill>
        <p:spPr>
          <a:xfrm>
            <a:off x="411480" y="3685032"/>
            <a:ext cx="3703320" cy="1965960"/>
          </a:xfrm>
          <a:prstGeom prst="rect">
            <a:avLst/>
          </a:prstGeom>
        </p:spPr>
      </p:pic>
      <p:sp>
        <p:nvSpPr>
          <p:cNvPr id="14" name="TextBox 13"/>
          <p:cNvSpPr txBox="1"/>
          <p:nvPr/>
        </p:nvSpPr>
        <p:spPr>
          <a:xfrm>
            <a:off x="411480" y="5678424"/>
            <a:ext cx="3703320" cy="274320"/>
          </a:xfrm>
          <a:prstGeom prst="rect">
            <a:avLst/>
          </a:prstGeom>
          <a:noFill/>
        </p:spPr>
        <p:txBody>
          <a:bodyPr wrap="square">
            <a:spAutoFit/>
          </a:bodyPr>
          <a:lstStyle/>
          <a:p>
            <a:pPr algn="l"/>
            <a:r>
              <a:rPr sz="1000" b="1">
                <a:solidFill>
                  <a:srgbClr val="4FD1C5"/>
                </a:solidFill>
                <a:latin typeface="Calibri"/>
              </a:rPr>
              <a:t>What-if simulator</a:t>
            </a:r>
          </a:p>
        </p:txBody>
      </p:sp>
      <p:sp>
        <p:nvSpPr>
          <p:cNvPr id="15" name="TextBox 14"/>
          <p:cNvSpPr txBox="1"/>
          <p:nvPr/>
        </p:nvSpPr>
        <p:spPr>
          <a:xfrm>
            <a:off x="457200" y="6510528"/>
            <a:ext cx="8229600" cy="256032"/>
          </a:xfrm>
          <a:prstGeom prst="rect">
            <a:avLst/>
          </a:prstGeom>
          <a:noFill/>
        </p:spPr>
        <p:txBody>
          <a:bodyPr wrap="square">
            <a:spAutoFit/>
          </a:bodyPr>
          <a:lstStyle/>
          <a:p>
            <a:pPr algn="l"/>
            <a:r>
              <a:rPr sz="1000" b="0">
                <a:solidFill>
                  <a:srgbClr val="94A3B8"/>
                </a:solidFill>
                <a:latin typeface="Calibri"/>
              </a:rPr>
              <a:t>Smart Profits  ·  GSMA MENA Ignite  ·  Theme 4  ·  Nokia Network-as-Code</a:t>
            </a:r>
          </a:p>
        </p:txBody>
      </p:sp>
      <p:sp>
        <p:nvSpPr>
          <p:cNvPr id="16" name="TextBox 15"/>
          <p:cNvSpPr txBox="1"/>
          <p:nvPr/>
        </p:nvSpPr>
        <p:spPr>
          <a:xfrm>
            <a:off x="10424160" y="6510528"/>
            <a:ext cx="1280160" cy="256032"/>
          </a:xfrm>
          <a:prstGeom prst="rect">
            <a:avLst/>
          </a:prstGeom>
          <a:noFill/>
        </p:spPr>
        <p:txBody>
          <a:bodyPr wrap="square">
            <a:spAutoFit/>
          </a:bodyPr>
          <a:lstStyle/>
          <a:p>
            <a:pPr algn="r"/>
            <a:r>
              <a:rPr sz="1000" b="0">
                <a:solidFill>
                  <a:srgbClr val="94A3B8"/>
                </a:solidFill>
                <a:latin typeface="Calibri"/>
              </a:rPr>
              <a:t>13 / 19</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56032"/>
            <a:ext cx="10972800" cy="292608"/>
          </a:xfrm>
          <a:prstGeom prst="rect">
            <a:avLst/>
          </a:prstGeom>
          <a:noFill/>
        </p:spPr>
        <p:txBody>
          <a:bodyPr wrap="square">
            <a:spAutoFit/>
          </a:bodyPr>
          <a:lstStyle/>
          <a:p>
            <a:pPr algn="l"/>
            <a:r>
              <a:rPr sz="1100" b="1">
                <a:solidFill>
                  <a:srgbClr val="4FD1C5"/>
                </a:solidFill>
                <a:latin typeface="Calibri"/>
              </a:rPr>
              <a:t>11. DIFFERENTIATION</a:t>
            </a:r>
          </a:p>
        </p:txBody>
      </p:sp>
      <p:sp>
        <p:nvSpPr>
          <p:cNvPr id="6" name="TextBox 5"/>
          <p:cNvSpPr txBox="1"/>
          <p:nvPr/>
        </p:nvSpPr>
        <p:spPr>
          <a:xfrm>
            <a:off x="502920" y="530352"/>
            <a:ext cx="11155680" cy="594360"/>
          </a:xfrm>
          <a:prstGeom prst="rect">
            <a:avLst/>
          </a:prstGeom>
          <a:noFill/>
        </p:spPr>
        <p:txBody>
          <a:bodyPr wrap="square">
            <a:spAutoFit/>
          </a:bodyPr>
          <a:lstStyle/>
          <a:p>
            <a:pPr algn="l"/>
            <a:r>
              <a:rPr sz="2600" b="1">
                <a:solidFill>
                  <a:srgbClr val="F8FAFC"/>
                </a:solidFill>
                <a:latin typeface="Calibri"/>
              </a:rPr>
              <a:t>Why Smart Profits is not another Excel chatbot</a:t>
            </a:r>
          </a:p>
        </p:txBody>
      </p:sp>
      <p:graphicFrame>
        <p:nvGraphicFramePr>
          <p:cNvPr id="7" name="Table 6"/>
          <p:cNvGraphicFramePr>
            <a:graphicFrameLocks noGrp="1"/>
          </p:cNvGraphicFramePr>
          <p:nvPr>
            <p:extLst>
              <p:ext uri="{D42A27DB-BD31-4B8C-83A1-F6EECF244321}">
                <p14:modId xmlns:p14="http://schemas.microsoft.com/office/powerpoint/2010/main" val="4001188621"/>
              </p:ext>
            </p:extLst>
          </p:nvPr>
        </p:nvGraphicFramePr>
        <p:xfrm>
          <a:off x="457200" y="1371600"/>
          <a:ext cx="11247120" cy="4434840"/>
        </p:xfrm>
        <a:graphic>
          <a:graphicData uri="http://schemas.openxmlformats.org/drawingml/2006/table">
            <a:tbl>
              <a:tblPr firstRow="1" bandRow="1">
                <a:tableStyleId>{5C22544A-7EE6-4342-B048-85BDC9FD1C3A}</a:tableStyleId>
              </a:tblPr>
              <a:tblGrid>
                <a:gridCol w="5029200">
                  <a:extLst>
                    <a:ext uri="{9D8B030D-6E8A-4147-A177-3AD203B41FA5}">
                      <a16:colId xmlns:a16="http://schemas.microsoft.com/office/drawing/2014/main" val="20000"/>
                    </a:ext>
                  </a:extLst>
                </a:gridCol>
                <a:gridCol w="6217920">
                  <a:extLst>
                    <a:ext uri="{9D8B030D-6E8A-4147-A177-3AD203B41FA5}">
                      <a16:colId xmlns:a16="http://schemas.microsoft.com/office/drawing/2014/main" val="20001"/>
                    </a:ext>
                  </a:extLst>
                </a:gridCol>
              </a:tblGrid>
              <a:tr h="633548">
                <a:tc>
                  <a:txBody>
                    <a:bodyPr/>
                    <a:lstStyle/>
                    <a:p>
                      <a:r>
                        <a:rPr sz="1400" b="1" dirty="0">
                          <a:solidFill>
                            <a:srgbClr val="4FD1C5"/>
                          </a:solidFill>
                          <a:latin typeface="Calibri"/>
                        </a:rPr>
                        <a:t>Typical Excel AI</a:t>
                      </a:r>
                    </a:p>
                  </a:txBody>
                  <a:tcPr>
                    <a:solidFill>
                      <a:srgbClr val="0B1120"/>
                    </a:solidFill>
                  </a:tcPr>
                </a:tc>
                <a:tc>
                  <a:txBody>
                    <a:bodyPr/>
                    <a:lstStyle/>
                    <a:p>
                      <a:r>
                        <a:rPr sz="1400" b="1">
                          <a:solidFill>
                            <a:srgbClr val="4FD1C5"/>
                          </a:solidFill>
                          <a:latin typeface="Calibri"/>
                        </a:rPr>
                        <a:t>Smart Profits</a:t>
                      </a:r>
                    </a:p>
                  </a:txBody>
                  <a:tcPr>
                    <a:solidFill>
                      <a:srgbClr val="0B1120"/>
                    </a:solidFill>
                  </a:tcPr>
                </a:tc>
                <a:extLst>
                  <a:ext uri="{0D108BD9-81ED-4DB2-BD59-A6C34878D82A}">
                    <a16:rowId xmlns:a16="http://schemas.microsoft.com/office/drawing/2014/main" val="10000"/>
                  </a:ext>
                </a:extLst>
              </a:tr>
              <a:tr h="633548">
                <a:tc>
                  <a:txBody>
                    <a:bodyPr/>
                    <a:lstStyle/>
                    <a:p>
                      <a:r>
                        <a:rPr sz="1400" b="0" dirty="0">
                          <a:solidFill>
                            <a:srgbClr val="F8FAFC"/>
                          </a:solidFill>
                          <a:latin typeface="Calibri"/>
                        </a:rPr>
                        <a:t>Reads a spreadsheet</a:t>
                      </a:r>
                    </a:p>
                  </a:txBody>
                  <a:tcPr>
                    <a:solidFill>
                      <a:srgbClr val="162136"/>
                    </a:solidFill>
                  </a:tcPr>
                </a:tc>
                <a:tc>
                  <a:txBody>
                    <a:bodyPr/>
                    <a:lstStyle/>
                    <a:p>
                      <a:r>
                        <a:rPr sz="1400" b="1">
                          <a:solidFill>
                            <a:srgbClr val="E8C56B"/>
                          </a:solidFill>
                          <a:latin typeface="Calibri"/>
                        </a:rPr>
                        <a:t>Reads + diagnoses + bilingual Q&amp;A on the open file</a:t>
                      </a:r>
                    </a:p>
                  </a:txBody>
                  <a:tcPr>
                    <a:solidFill>
                      <a:srgbClr val="162136"/>
                    </a:solidFill>
                  </a:tcPr>
                </a:tc>
                <a:extLst>
                  <a:ext uri="{0D108BD9-81ED-4DB2-BD59-A6C34878D82A}">
                    <a16:rowId xmlns:a16="http://schemas.microsoft.com/office/drawing/2014/main" val="10001"/>
                  </a:ext>
                </a:extLst>
              </a:tr>
              <a:tr h="633548">
                <a:tc>
                  <a:txBody>
                    <a:bodyPr/>
                    <a:lstStyle/>
                    <a:p>
                      <a:r>
                        <a:rPr sz="1400" b="0" dirty="0">
                          <a:solidFill>
                            <a:srgbClr val="F8FAFC"/>
                          </a:solidFill>
                          <a:latin typeface="Calibri"/>
                        </a:rPr>
                        <a:t>Trusts SMS OTP</a:t>
                      </a:r>
                    </a:p>
                  </a:txBody>
                  <a:tcPr>
                    <a:solidFill>
                      <a:srgbClr val="141C30"/>
                    </a:solidFill>
                  </a:tcPr>
                </a:tc>
                <a:tc>
                  <a:txBody>
                    <a:bodyPr/>
                    <a:lstStyle/>
                    <a:p>
                      <a:r>
                        <a:rPr sz="1400" b="1" dirty="0">
                          <a:solidFill>
                            <a:srgbClr val="E8C56B"/>
                          </a:solidFill>
                          <a:latin typeface="Calibri"/>
                        </a:rPr>
                        <a:t>SIM Swap + Number Verification via the network</a:t>
                      </a:r>
                    </a:p>
                  </a:txBody>
                  <a:tcPr>
                    <a:solidFill>
                      <a:srgbClr val="141C30"/>
                    </a:solidFill>
                  </a:tcPr>
                </a:tc>
                <a:extLst>
                  <a:ext uri="{0D108BD9-81ED-4DB2-BD59-A6C34878D82A}">
                    <a16:rowId xmlns:a16="http://schemas.microsoft.com/office/drawing/2014/main" val="10002"/>
                  </a:ext>
                </a:extLst>
              </a:tr>
              <a:tr h="633548">
                <a:tc>
                  <a:txBody>
                    <a:bodyPr/>
                    <a:lstStyle/>
                    <a:p>
                      <a:r>
                        <a:rPr sz="1400" b="0">
                          <a:solidFill>
                            <a:srgbClr val="F8FAFC"/>
                          </a:solidFill>
                          <a:latin typeface="Calibri"/>
                        </a:rPr>
                        <a:t>No location concept</a:t>
                      </a:r>
                    </a:p>
                  </a:txBody>
                  <a:tcPr>
                    <a:solidFill>
                      <a:srgbClr val="162136"/>
                    </a:solidFill>
                  </a:tcPr>
                </a:tc>
                <a:tc>
                  <a:txBody>
                    <a:bodyPr/>
                    <a:lstStyle/>
                    <a:p>
                      <a:r>
                        <a:rPr sz="1400" b="1" dirty="0">
                          <a:solidFill>
                            <a:srgbClr val="E8C56B"/>
                          </a:solidFill>
                          <a:latin typeface="Calibri"/>
                        </a:rPr>
                        <a:t>Location Verification binds uploads to the store</a:t>
                      </a:r>
                    </a:p>
                  </a:txBody>
                  <a:tcPr>
                    <a:solidFill>
                      <a:srgbClr val="162136"/>
                    </a:solidFill>
                  </a:tcPr>
                </a:tc>
                <a:extLst>
                  <a:ext uri="{0D108BD9-81ED-4DB2-BD59-A6C34878D82A}">
                    <a16:rowId xmlns:a16="http://schemas.microsoft.com/office/drawing/2014/main" val="10003"/>
                  </a:ext>
                </a:extLst>
              </a:tr>
              <a:tr h="633548">
                <a:tc>
                  <a:txBody>
                    <a:bodyPr/>
                    <a:lstStyle/>
                    <a:p>
                      <a:r>
                        <a:rPr sz="1400" b="0">
                          <a:solidFill>
                            <a:srgbClr val="F8FAFC"/>
                          </a:solidFill>
                          <a:latin typeface="Calibri"/>
                        </a:rPr>
                        <a:t>Chatbot only</a:t>
                      </a:r>
                    </a:p>
                  </a:txBody>
                  <a:tcPr>
                    <a:solidFill>
                      <a:srgbClr val="141C30"/>
                    </a:solidFill>
                  </a:tcPr>
                </a:tc>
                <a:tc>
                  <a:txBody>
                    <a:bodyPr/>
                    <a:lstStyle/>
                    <a:p>
                      <a:r>
                        <a:rPr sz="1400" b="1" dirty="0">
                          <a:solidFill>
                            <a:srgbClr val="E8C56B"/>
                          </a:solidFill>
                          <a:latin typeface="Calibri"/>
                        </a:rPr>
                        <a:t>AI Agent calls CAMARA tools and enforces freeze</a:t>
                      </a:r>
                    </a:p>
                  </a:txBody>
                  <a:tcPr>
                    <a:solidFill>
                      <a:srgbClr val="141C30"/>
                    </a:solidFill>
                  </a:tcPr>
                </a:tc>
                <a:extLst>
                  <a:ext uri="{0D108BD9-81ED-4DB2-BD59-A6C34878D82A}">
                    <a16:rowId xmlns:a16="http://schemas.microsoft.com/office/drawing/2014/main" val="10004"/>
                  </a:ext>
                </a:extLst>
              </a:tr>
              <a:tr h="633548">
                <a:tc>
                  <a:txBody>
                    <a:bodyPr/>
                    <a:lstStyle/>
                    <a:p>
                      <a:r>
                        <a:rPr sz="1400" b="0">
                          <a:solidFill>
                            <a:srgbClr val="F8FAFC"/>
                          </a:solidFill>
                          <a:latin typeface="Calibri"/>
                        </a:rPr>
                        <a:t>Generic SaaS</a:t>
                      </a:r>
                    </a:p>
                  </a:txBody>
                  <a:tcPr>
                    <a:solidFill>
                      <a:srgbClr val="162136"/>
                    </a:solidFill>
                  </a:tcPr>
                </a:tc>
                <a:tc>
                  <a:txBody>
                    <a:bodyPr/>
                    <a:lstStyle/>
                    <a:p>
                      <a:r>
                        <a:rPr sz="1400" b="1" dirty="0">
                          <a:solidFill>
                            <a:srgbClr val="E8C56B"/>
                          </a:solidFill>
                          <a:latin typeface="Calibri"/>
                        </a:rPr>
                        <a:t>Built for MENA merchants (Arabic RTL, messy AR/EN ledgers)</a:t>
                      </a:r>
                    </a:p>
                  </a:txBody>
                  <a:tcPr>
                    <a:solidFill>
                      <a:srgbClr val="162136"/>
                    </a:solidFill>
                  </a:tcPr>
                </a:tc>
                <a:extLst>
                  <a:ext uri="{0D108BD9-81ED-4DB2-BD59-A6C34878D82A}">
                    <a16:rowId xmlns:a16="http://schemas.microsoft.com/office/drawing/2014/main" val="10005"/>
                  </a:ext>
                </a:extLst>
              </a:tr>
              <a:tr h="633552">
                <a:tc>
                  <a:txBody>
                    <a:bodyPr/>
                    <a:lstStyle/>
                    <a:p>
                      <a:r>
                        <a:rPr sz="1400" b="0">
                          <a:solidFill>
                            <a:srgbClr val="F8FAFC"/>
                          </a:solidFill>
                          <a:latin typeface="Calibri"/>
                        </a:rPr>
                        <a:t>Slide-only Open Gateway</a:t>
                      </a:r>
                    </a:p>
                  </a:txBody>
                  <a:tcPr>
                    <a:solidFill>
                      <a:srgbClr val="141C30"/>
                    </a:solidFill>
                  </a:tcPr>
                </a:tc>
                <a:tc>
                  <a:txBody>
                    <a:bodyPr/>
                    <a:lstStyle/>
                    <a:p>
                      <a:r>
                        <a:rPr sz="1400" b="1" dirty="0">
                          <a:solidFill>
                            <a:srgbClr val="E8C56B"/>
                          </a:solidFill>
                          <a:latin typeface="Calibri"/>
                        </a:rPr>
                        <a:t>Live Nokia </a:t>
                      </a:r>
                      <a:r>
                        <a:rPr sz="1400" b="1" dirty="0" err="1">
                          <a:solidFill>
                            <a:srgbClr val="E8C56B"/>
                          </a:solidFill>
                          <a:latin typeface="Calibri"/>
                        </a:rPr>
                        <a:t>NaC</a:t>
                      </a:r>
                      <a:r>
                        <a:rPr sz="1400" b="1" dirty="0">
                          <a:solidFill>
                            <a:srgbClr val="E8C56B"/>
                          </a:solidFill>
                          <a:latin typeface="Calibri"/>
                        </a:rPr>
                        <a:t> integration with audit logs</a:t>
                      </a:r>
                    </a:p>
                  </a:txBody>
                  <a:tcPr>
                    <a:solidFill>
                      <a:srgbClr val="141C30"/>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457200" y="6510528"/>
            <a:ext cx="8229600" cy="256032"/>
          </a:xfrm>
          <a:prstGeom prst="rect">
            <a:avLst/>
          </a:prstGeom>
          <a:noFill/>
        </p:spPr>
        <p:txBody>
          <a:bodyPr wrap="square">
            <a:spAutoFit/>
          </a:bodyPr>
          <a:lstStyle/>
          <a:p>
            <a:pPr algn="l"/>
            <a:r>
              <a:rPr sz="1000" b="0">
                <a:solidFill>
                  <a:srgbClr val="94A3B8"/>
                </a:solidFill>
                <a:latin typeface="Calibri"/>
              </a:rPr>
              <a:t>Smart Profits  ·  GSMA MENA Ignite  ·  Theme 4  ·  Nokia Network-as-Code</a:t>
            </a:r>
          </a:p>
        </p:txBody>
      </p:sp>
      <p:sp>
        <p:nvSpPr>
          <p:cNvPr id="9" name="TextBox 8"/>
          <p:cNvSpPr txBox="1"/>
          <p:nvPr/>
        </p:nvSpPr>
        <p:spPr>
          <a:xfrm>
            <a:off x="10424160" y="6510528"/>
            <a:ext cx="1280160" cy="256032"/>
          </a:xfrm>
          <a:prstGeom prst="rect">
            <a:avLst/>
          </a:prstGeom>
          <a:noFill/>
        </p:spPr>
        <p:txBody>
          <a:bodyPr wrap="square">
            <a:spAutoFit/>
          </a:bodyPr>
          <a:lstStyle/>
          <a:p>
            <a:pPr algn="r"/>
            <a:r>
              <a:rPr sz="1000" b="0">
                <a:solidFill>
                  <a:srgbClr val="94A3B8"/>
                </a:solidFill>
                <a:latin typeface="Calibri"/>
              </a:rPr>
              <a:t>14 / 19</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56032"/>
            <a:ext cx="10972800" cy="292608"/>
          </a:xfrm>
          <a:prstGeom prst="rect">
            <a:avLst/>
          </a:prstGeom>
          <a:noFill/>
        </p:spPr>
        <p:txBody>
          <a:bodyPr wrap="square">
            <a:spAutoFit/>
          </a:bodyPr>
          <a:lstStyle/>
          <a:p>
            <a:pPr algn="l"/>
            <a:r>
              <a:rPr sz="1100" b="1">
                <a:solidFill>
                  <a:srgbClr val="4FD1C5"/>
                </a:solidFill>
                <a:latin typeface="Calibri"/>
              </a:rPr>
              <a:t>12. BUSINESS MODEL</a:t>
            </a:r>
          </a:p>
        </p:txBody>
      </p:sp>
      <p:sp>
        <p:nvSpPr>
          <p:cNvPr id="6" name="TextBox 5"/>
          <p:cNvSpPr txBox="1"/>
          <p:nvPr/>
        </p:nvSpPr>
        <p:spPr>
          <a:xfrm>
            <a:off x="502920" y="530352"/>
            <a:ext cx="11155680" cy="594360"/>
          </a:xfrm>
          <a:prstGeom prst="rect">
            <a:avLst/>
          </a:prstGeom>
          <a:noFill/>
        </p:spPr>
        <p:txBody>
          <a:bodyPr wrap="square">
            <a:spAutoFit/>
          </a:bodyPr>
          <a:lstStyle/>
          <a:p>
            <a:pPr algn="l"/>
            <a:r>
              <a:rPr sz="2600" b="1">
                <a:solidFill>
                  <a:srgbClr val="F8FAFC"/>
                </a:solidFill>
                <a:latin typeface="Calibri"/>
              </a:rPr>
              <a:t>How operators make money from Smart Profits</a:t>
            </a:r>
          </a:p>
        </p:txBody>
      </p:sp>
      <p:sp>
        <p:nvSpPr>
          <p:cNvPr id="7" name="TextBox 6"/>
          <p:cNvSpPr txBox="1"/>
          <p:nvPr/>
        </p:nvSpPr>
        <p:spPr>
          <a:xfrm>
            <a:off x="502920" y="1078992"/>
            <a:ext cx="11155680" cy="411480"/>
          </a:xfrm>
          <a:prstGeom prst="rect">
            <a:avLst/>
          </a:prstGeom>
          <a:noFill/>
        </p:spPr>
        <p:txBody>
          <a:bodyPr wrap="square">
            <a:spAutoFit/>
          </a:bodyPr>
          <a:lstStyle/>
          <a:p>
            <a:pPr algn="l"/>
            <a:r>
              <a:rPr sz="1400" b="0">
                <a:solidFill>
                  <a:srgbClr val="94A3B8"/>
                </a:solidFill>
                <a:latin typeface="Calibri"/>
              </a:rPr>
              <a:t>SaaS for merchants + continuous CAMARA API usage for telcos (B2B2X).</a:t>
            </a:r>
          </a:p>
        </p:txBody>
      </p:sp>
      <p:sp>
        <p:nvSpPr>
          <p:cNvPr id="8" name="Rounded Rectangle 7"/>
          <p:cNvSpPr/>
          <p:nvPr/>
        </p:nvSpPr>
        <p:spPr>
          <a:xfrm>
            <a:off x="457200" y="1417320"/>
            <a:ext cx="3611880" cy="169164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 y="1545336"/>
            <a:ext cx="3246120" cy="310896"/>
          </a:xfrm>
          <a:prstGeom prst="rect">
            <a:avLst/>
          </a:prstGeom>
          <a:noFill/>
        </p:spPr>
        <p:txBody>
          <a:bodyPr wrap="square">
            <a:spAutoFit/>
          </a:bodyPr>
          <a:lstStyle/>
          <a:p>
            <a:pPr algn="l"/>
            <a:r>
              <a:rPr sz="1400" b="1">
                <a:solidFill>
                  <a:srgbClr val="E8C56B"/>
                </a:solidFill>
                <a:latin typeface="Calibri"/>
              </a:rPr>
              <a:t>Free trial · 7 days</a:t>
            </a:r>
          </a:p>
        </p:txBody>
      </p:sp>
      <p:sp>
        <p:nvSpPr>
          <p:cNvPr id="10" name="TextBox 9"/>
          <p:cNvSpPr txBox="1"/>
          <p:nvPr/>
        </p:nvSpPr>
        <p:spPr>
          <a:xfrm>
            <a:off x="658368" y="1856232"/>
            <a:ext cx="3246120" cy="523220"/>
          </a:xfrm>
          <a:prstGeom prst="rect">
            <a:avLst/>
          </a:prstGeom>
          <a:noFill/>
        </p:spPr>
        <p:txBody>
          <a:bodyPr wrap="square">
            <a:spAutoFit/>
          </a:bodyPr>
          <a:lstStyle/>
          <a:p>
            <a:pPr algn="l"/>
            <a:r>
              <a:rPr sz="1400" b="0">
                <a:solidFill>
                  <a:srgbClr val="F8FAFC"/>
                </a:solidFill>
                <a:latin typeface="Calibri"/>
              </a:rPr>
              <a:t>Full product — upload, diagnosis, advisor, Smart Guard. Converts to Pro.</a:t>
            </a:r>
          </a:p>
        </p:txBody>
      </p:sp>
      <p:sp>
        <p:nvSpPr>
          <p:cNvPr id="11" name="Rounded Rectangle 10"/>
          <p:cNvSpPr/>
          <p:nvPr/>
        </p:nvSpPr>
        <p:spPr>
          <a:xfrm>
            <a:off x="4297680" y="1417320"/>
            <a:ext cx="3611880" cy="169164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98848" y="1545336"/>
            <a:ext cx="3246120" cy="310896"/>
          </a:xfrm>
          <a:prstGeom prst="rect">
            <a:avLst/>
          </a:prstGeom>
          <a:noFill/>
        </p:spPr>
        <p:txBody>
          <a:bodyPr wrap="square">
            <a:spAutoFit/>
          </a:bodyPr>
          <a:lstStyle/>
          <a:p>
            <a:pPr algn="l"/>
            <a:r>
              <a:rPr sz="1400" b="1">
                <a:solidFill>
                  <a:srgbClr val="E8C56B"/>
                </a:solidFill>
                <a:latin typeface="Calibri"/>
              </a:rPr>
              <a:t>Pro · $49 / month</a:t>
            </a:r>
          </a:p>
        </p:txBody>
      </p:sp>
      <p:sp>
        <p:nvSpPr>
          <p:cNvPr id="13" name="TextBox 12"/>
          <p:cNvSpPr txBox="1"/>
          <p:nvPr/>
        </p:nvSpPr>
        <p:spPr>
          <a:xfrm>
            <a:off x="4498848" y="1856232"/>
            <a:ext cx="3246120" cy="523220"/>
          </a:xfrm>
          <a:prstGeom prst="rect">
            <a:avLst/>
          </a:prstGeom>
          <a:noFill/>
        </p:spPr>
        <p:txBody>
          <a:bodyPr wrap="square">
            <a:spAutoFit/>
          </a:bodyPr>
          <a:lstStyle/>
          <a:p>
            <a:pPr algn="l"/>
            <a:r>
              <a:rPr sz="1400" b="0">
                <a:solidFill>
                  <a:srgbClr val="F8FAFC"/>
                </a:solidFill>
                <a:latin typeface="Calibri"/>
              </a:rPr>
              <a:t>Single store — P&amp;L, leaks, Q&amp;A, telco-secured login/upload/export.</a:t>
            </a:r>
          </a:p>
        </p:txBody>
      </p:sp>
      <p:sp>
        <p:nvSpPr>
          <p:cNvPr id="14" name="Rounded Rectangle 13"/>
          <p:cNvSpPr/>
          <p:nvPr/>
        </p:nvSpPr>
        <p:spPr>
          <a:xfrm>
            <a:off x="8138160" y="1417320"/>
            <a:ext cx="3611880" cy="169164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39328" y="1545336"/>
            <a:ext cx="3246120" cy="310896"/>
          </a:xfrm>
          <a:prstGeom prst="rect">
            <a:avLst/>
          </a:prstGeom>
          <a:noFill/>
        </p:spPr>
        <p:txBody>
          <a:bodyPr wrap="square">
            <a:spAutoFit/>
          </a:bodyPr>
          <a:lstStyle/>
          <a:p>
            <a:pPr algn="l"/>
            <a:r>
              <a:rPr sz="1400" b="1">
                <a:solidFill>
                  <a:srgbClr val="E8C56B"/>
                </a:solidFill>
                <a:latin typeface="Calibri"/>
              </a:rPr>
              <a:t>Business · $99 / month</a:t>
            </a:r>
          </a:p>
        </p:txBody>
      </p:sp>
      <p:sp>
        <p:nvSpPr>
          <p:cNvPr id="16" name="TextBox 15"/>
          <p:cNvSpPr txBox="1"/>
          <p:nvPr/>
        </p:nvSpPr>
        <p:spPr>
          <a:xfrm>
            <a:off x="8339328" y="1856232"/>
            <a:ext cx="3246120" cy="523220"/>
          </a:xfrm>
          <a:prstGeom prst="rect">
            <a:avLst/>
          </a:prstGeom>
          <a:noFill/>
        </p:spPr>
        <p:txBody>
          <a:bodyPr wrap="square">
            <a:spAutoFit/>
          </a:bodyPr>
          <a:lstStyle/>
          <a:p>
            <a:pPr algn="l"/>
            <a:r>
              <a:rPr sz="1400" b="0">
                <a:solidFill>
                  <a:srgbClr val="F8FAFC"/>
                </a:solidFill>
                <a:latin typeface="Calibri"/>
              </a:rPr>
              <a:t>Multi-branch — tighter geofences, team seats, priority guard review.</a:t>
            </a:r>
          </a:p>
        </p:txBody>
      </p:sp>
      <p:sp>
        <p:nvSpPr>
          <p:cNvPr id="17" name="Rounded Rectangle 16"/>
          <p:cNvSpPr/>
          <p:nvPr/>
        </p:nvSpPr>
        <p:spPr>
          <a:xfrm>
            <a:off x="457200" y="3291840"/>
            <a:ext cx="11247120" cy="269748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8" name="TextBox 17"/>
          <p:cNvSpPr txBox="1"/>
          <p:nvPr/>
        </p:nvSpPr>
        <p:spPr>
          <a:xfrm>
            <a:off x="685800" y="3429000"/>
            <a:ext cx="10972800" cy="307777"/>
          </a:xfrm>
          <a:prstGeom prst="rect">
            <a:avLst/>
          </a:prstGeom>
          <a:noFill/>
        </p:spPr>
        <p:txBody>
          <a:bodyPr wrap="square">
            <a:spAutoFit/>
          </a:bodyPr>
          <a:lstStyle/>
          <a:p>
            <a:pPr algn="l"/>
            <a:r>
              <a:rPr sz="1400" b="1">
                <a:solidFill>
                  <a:srgbClr val="E8C56B"/>
                </a:solidFill>
                <a:latin typeface="Calibri"/>
              </a:rPr>
              <a:t>Operator revenue — continuous API consumption (B2B2X)</a:t>
            </a:r>
          </a:p>
        </p:txBody>
      </p:sp>
      <p:sp>
        <p:nvSpPr>
          <p:cNvPr id="19" name="TextBox 18"/>
          <p:cNvSpPr txBox="1"/>
          <p:nvPr/>
        </p:nvSpPr>
        <p:spPr>
          <a:xfrm>
            <a:off x="685800" y="3794760"/>
            <a:ext cx="10789920" cy="1615827"/>
          </a:xfrm>
          <a:prstGeom prst="rect">
            <a:avLst/>
          </a:prstGeom>
          <a:noFill/>
        </p:spPr>
        <p:txBody>
          <a:bodyPr wrap="square">
            <a:spAutoFit/>
          </a:bodyPr>
          <a:lstStyle/>
          <a:p>
            <a:pPr algn="l">
              <a:spcAft>
                <a:spcPts val="600"/>
              </a:spcAft>
            </a:pPr>
            <a:r>
              <a:rPr sz="1400" b="0">
                <a:solidFill>
                  <a:srgbClr val="F8FAFC"/>
                </a:solidFill>
                <a:latin typeface="Calibri"/>
              </a:rPr>
              <a:t>• Every login, register, password reset, Excel upload, P&amp;L export and price change triggers CAMARA calls (SIM Swap, Device Swap, Number Verification, Location).</a:t>
            </a:r>
          </a:p>
          <a:p>
            <a:pPr algn="l">
              <a:spcAft>
                <a:spcPts val="600"/>
              </a:spcAft>
            </a:pPr>
            <a:r>
              <a:rPr sz="1400" b="0">
                <a:solidFill>
                  <a:srgbClr val="F8FAFC"/>
                </a:solidFill>
                <a:latin typeface="Calibri"/>
              </a:rPr>
              <a:t>• That is recurring, metered Open Gateway usage — not a one-time integration demo. More active merchants = more billable API events for the operator.</a:t>
            </a:r>
          </a:p>
          <a:p>
            <a:pPr algn="l">
              <a:spcAft>
                <a:spcPts val="600"/>
              </a:spcAft>
            </a:pPr>
            <a:r>
              <a:rPr sz="1400" b="0">
                <a:solidFill>
                  <a:srgbClr val="F8FAFC"/>
                </a:solidFill>
                <a:latin typeface="Calibri"/>
              </a:rPr>
              <a:t>• Merchant SaaS subscription funds the product; CAMARA usage is the telco monetization layer GSMA sponsors care about.</a:t>
            </a:r>
          </a:p>
          <a:p>
            <a:pPr algn="l">
              <a:spcAft>
                <a:spcPts val="600"/>
              </a:spcAft>
            </a:pPr>
            <a:r>
              <a:rPr sz="1400" b="0">
                <a:solidFill>
                  <a:srgbClr val="F8FAFC"/>
                </a:solidFill>
                <a:latin typeface="Calibri"/>
              </a:rPr>
              <a:t>• Future white-label: banks, wallets and marketplaces consume the same Smart Guard + NaC path under operator B2B2X deals.</a:t>
            </a:r>
          </a:p>
        </p:txBody>
      </p:sp>
      <p:sp>
        <p:nvSpPr>
          <p:cNvPr id="20" name="TextBox 19"/>
          <p:cNvSpPr txBox="1"/>
          <p:nvPr/>
        </p:nvSpPr>
        <p:spPr>
          <a:xfrm>
            <a:off x="457200" y="6510528"/>
            <a:ext cx="8229600" cy="256032"/>
          </a:xfrm>
          <a:prstGeom prst="rect">
            <a:avLst/>
          </a:prstGeom>
          <a:noFill/>
        </p:spPr>
        <p:txBody>
          <a:bodyPr wrap="square">
            <a:spAutoFit/>
          </a:bodyPr>
          <a:lstStyle/>
          <a:p>
            <a:pPr algn="l"/>
            <a:r>
              <a:rPr sz="1000" b="0">
                <a:solidFill>
                  <a:srgbClr val="94A3B8"/>
                </a:solidFill>
                <a:latin typeface="Calibri"/>
              </a:rPr>
              <a:t>Smart Profits  ·  GSMA MENA Ignite  ·  Theme 4  ·  Nokia Network-as-Code</a:t>
            </a:r>
          </a:p>
        </p:txBody>
      </p:sp>
      <p:sp>
        <p:nvSpPr>
          <p:cNvPr id="21" name="TextBox 20"/>
          <p:cNvSpPr txBox="1"/>
          <p:nvPr/>
        </p:nvSpPr>
        <p:spPr>
          <a:xfrm>
            <a:off x="10424160" y="6510528"/>
            <a:ext cx="1280160" cy="256032"/>
          </a:xfrm>
          <a:prstGeom prst="rect">
            <a:avLst/>
          </a:prstGeom>
          <a:noFill/>
        </p:spPr>
        <p:txBody>
          <a:bodyPr wrap="square">
            <a:spAutoFit/>
          </a:bodyPr>
          <a:lstStyle/>
          <a:p>
            <a:pPr algn="r"/>
            <a:r>
              <a:rPr sz="1000" b="0">
                <a:solidFill>
                  <a:srgbClr val="94A3B8"/>
                </a:solidFill>
                <a:latin typeface="Calibri"/>
              </a:rPr>
              <a:t>15 / 19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56032"/>
            <a:ext cx="10972800" cy="292608"/>
          </a:xfrm>
          <a:prstGeom prst="rect">
            <a:avLst/>
          </a:prstGeom>
          <a:noFill/>
        </p:spPr>
        <p:txBody>
          <a:bodyPr wrap="square">
            <a:spAutoFit/>
          </a:bodyPr>
          <a:lstStyle/>
          <a:p>
            <a:pPr algn="l"/>
            <a:r>
              <a:rPr sz="1100" b="1">
                <a:solidFill>
                  <a:srgbClr val="4FD1C5"/>
                </a:solidFill>
                <a:latin typeface="Calibri"/>
              </a:rPr>
              <a:t>13. IMPACT &amp; WHY GSMA SHOULD CARE</a:t>
            </a:r>
          </a:p>
        </p:txBody>
      </p:sp>
      <p:sp>
        <p:nvSpPr>
          <p:cNvPr id="6" name="TextBox 5"/>
          <p:cNvSpPr txBox="1"/>
          <p:nvPr/>
        </p:nvSpPr>
        <p:spPr>
          <a:xfrm>
            <a:off x="502920" y="530352"/>
            <a:ext cx="11155680" cy="594360"/>
          </a:xfrm>
          <a:prstGeom prst="rect">
            <a:avLst/>
          </a:prstGeom>
          <a:noFill/>
        </p:spPr>
        <p:txBody>
          <a:bodyPr wrap="square">
            <a:spAutoFit/>
          </a:bodyPr>
          <a:lstStyle/>
          <a:p>
            <a:pPr algn="l"/>
            <a:r>
              <a:rPr sz="2600" b="1">
                <a:solidFill>
                  <a:srgbClr val="F8FAFC"/>
                </a:solidFill>
                <a:latin typeface="Calibri"/>
              </a:rPr>
              <a:t>Real API consumer · Real regional problem · Real agent</a:t>
            </a:r>
          </a:p>
        </p:txBody>
      </p:sp>
      <p:sp>
        <p:nvSpPr>
          <p:cNvPr id="7" name="Rounded Rectangle 6"/>
          <p:cNvSpPr/>
          <p:nvPr/>
        </p:nvSpPr>
        <p:spPr>
          <a:xfrm>
            <a:off x="457200" y="1325880"/>
            <a:ext cx="5532120" cy="201168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8" name="TextBox 7"/>
          <p:cNvSpPr txBox="1"/>
          <p:nvPr/>
        </p:nvSpPr>
        <p:spPr>
          <a:xfrm>
            <a:off x="658368" y="1453896"/>
            <a:ext cx="5166360" cy="338554"/>
          </a:xfrm>
          <a:prstGeom prst="rect">
            <a:avLst/>
          </a:prstGeom>
          <a:noFill/>
        </p:spPr>
        <p:txBody>
          <a:bodyPr wrap="square">
            <a:spAutoFit/>
          </a:bodyPr>
          <a:lstStyle/>
          <a:p>
            <a:pPr algn="l"/>
            <a:r>
              <a:rPr sz="1600" b="1">
                <a:solidFill>
                  <a:srgbClr val="E8C56B"/>
                </a:solidFill>
                <a:latin typeface="Calibri"/>
              </a:rPr>
              <a:t>For operators</a:t>
            </a:r>
          </a:p>
        </p:txBody>
      </p:sp>
      <p:sp>
        <p:nvSpPr>
          <p:cNvPr id="9" name="TextBox 8"/>
          <p:cNvSpPr txBox="1"/>
          <p:nvPr/>
        </p:nvSpPr>
        <p:spPr>
          <a:xfrm>
            <a:off x="658368" y="1764792"/>
            <a:ext cx="5166360" cy="584775"/>
          </a:xfrm>
          <a:prstGeom prst="rect">
            <a:avLst/>
          </a:prstGeom>
          <a:noFill/>
        </p:spPr>
        <p:txBody>
          <a:bodyPr wrap="square">
            <a:spAutoFit/>
          </a:bodyPr>
          <a:lstStyle/>
          <a:p>
            <a:pPr algn="l"/>
            <a:r>
              <a:rPr sz="1600" b="0">
                <a:solidFill>
                  <a:srgbClr val="F8FAFC"/>
                </a:solidFill>
                <a:latin typeface="Calibri"/>
              </a:rPr>
              <a:t>B2B FinTech that consumes Open Gateway APIs at scale — login, upload, export — not slide-only integration.</a:t>
            </a:r>
          </a:p>
        </p:txBody>
      </p:sp>
      <p:sp>
        <p:nvSpPr>
          <p:cNvPr id="10" name="Rounded Rectangle 9"/>
          <p:cNvSpPr/>
          <p:nvPr/>
        </p:nvSpPr>
        <p:spPr>
          <a:xfrm>
            <a:off x="6309360" y="1325880"/>
            <a:ext cx="5532120" cy="201168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1" name="TextBox 10"/>
          <p:cNvSpPr txBox="1"/>
          <p:nvPr/>
        </p:nvSpPr>
        <p:spPr>
          <a:xfrm>
            <a:off x="6510528" y="1453896"/>
            <a:ext cx="5166360" cy="338554"/>
          </a:xfrm>
          <a:prstGeom prst="rect">
            <a:avLst/>
          </a:prstGeom>
          <a:noFill/>
        </p:spPr>
        <p:txBody>
          <a:bodyPr wrap="square">
            <a:spAutoFit/>
          </a:bodyPr>
          <a:lstStyle/>
          <a:p>
            <a:pPr algn="l"/>
            <a:r>
              <a:rPr sz="1600" b="1">
                <a:solidFill>
                  <a:srgbClr val="E8C56B"/>
                </a:solidFill>
                <a:latin typeface="Calibri"/>
              </a:rPr>
              <a:t>For merchants</a:t>
            </a:r>
          </a:p>
        </p:txBody>
      </p:sp>
      <p:sp>
        <p:nvSpPr>
          <p:cNvPr id="12" name="TextBox 11"/>
          <p:cNvSpPr txBox="1"/>
          <p:nvPr/>
        </p:nvSpPr>
        <p:spPr>
          <a:xfrm>
            <a:off x="6510528" y="1764792"/>
            <a:ext cx="5166360" cy="584775"/>
          </a:xfrm>
          <a:prstGeom prst="rect">
            <a:avLst/>
          </a:prstGeom>
          <a:noFill/>
        </p:spPr>
        <p:txBody>
          <a:bodyPr wrap="square">
            <a:spAutoFit/>
          </a:bodyPr>
          <a:lstStyle/>
          <a:p>
            <a:pPr algn="l"/>
            <a:r>
              <a:rPr sz="1600" b="0">
                <a:solidFill>
                  <a:srgbClr val="F8FAFC"/>
                </a:solidFill>
                <a:latin typeface="Calibri"/>
              </a:rPr>
              <a:t>CFO-grade insight AND bank-like protection of the files that ARE the business.</a:t>
            </a:r>
          </a:p>
        </p:txBody>
      </p:sp>
      <p:sp>
        <p:nvSpPr>
          <p:cNvPr id="13" name="Rounded Rectangle 12"/>
          <p:cNvSpPr/>
          <p:nvPr/>
        </p:nvSpPr>
        <p:spPr>
          <a:xfrm>
            <a:off x="457200" y="3566160"/>
            <a:ext cx="5532120" cy="201168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4" name="TextBox 13"/>
          <p:cNvSpPr txBox="1"/>
          <p:nvPr/>
        </p:nvSpPr>
        <p:spPr>
          <a:xfrm>
            <a:off x="658368" y="3694176"/>
            <a:ext cx="5166360" cy="338554"/>
          </a:xfrm>
          <a:prstGeom prst="rect">
            <a:avLst/>
          </a:prstGeom>
          <a:noFill/>
        </p:spPr>
        <p:txBody>
          <a:bodyPr wrap="square">
            <a:spAutoFit/>
          </a:bodyPr>
          <a:lstStyle/>
          <a:p>
            <a:pPr algn="l"/>
            <a:r>
              <a:rPr sz="1600" b="1">
                <a:solidFill>
                  <a:srgbClr val="E8C56B"/>
                </a:solidFill>
                <a:latin typeface="Calibri"/>
              </a:rPr>
              <a:t>For the region</a:t>
            </a:r>
          </a:p>
        </p:txBody>
      </p:sp>
      <p:sp>
        <p:nvSpPr>
          <p:cNvPr id="15" name="TextBox 14"/>
          <p:cNvSpPr txBox="1"/>
          <p:nvPr/>
        </p:nvSpPr>
        <p:spPr>
          <a:xfrm>
            <a:off x="658368" y="4005072"/>
            <a:ext cx="5166360" cy="584775"/>
          </a:xfrm>
          <a:prstGeom prst="rect">
            <a:avLst/>
          </a:prstGeom>
          <a:noFill/>
        </p:spPr>
        <p:txBody>
          <a:bodyPr wrap="square">
            <a:spAutoFit/>
          </a:bodyPr>
          <a:lstStyle/>
          <a:p>
            <a:pPr algn="l"/>
            <a:r>
              <a:rPr sz="1600" b="0">
                <a:solidFill>
                  <a:srgbClr val="F8FAFC"/>
                </a:solidFill>
                <a:latin typeface="Calibri"/>
              </a:rPr>
              <a:t>High WhatsApp/Excel commerce, high SIM-swap fraud, low formal accounting — exact Theme 4 conditions.</a:t>
            </a:r>
          </a:p>
        </p:txBody>
      </p:sp>
      <p:sp>
        <p:nvSpPr>
          <p:cNvPr id="16" name="Rounded Rectangle 15"/>
          <p:cNvSpPr/>
          <p:nvPr/>
        </p:nvSpPr>
        <p:spPr>
          <a:xfrm>
            <a:off x="6309360" y="3566160"/>
            <a:ext cx="5532120" cy="201168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600"/>
          </a:p>
        </p:txBody>
      </p:sp>
      <p:sp>
        <p:nvSpPr>
          <p:cNvPr id="17" name="TextBox 16"/>
          <p:cNvSpPr txBox="1"/>
          <p:nvPr/>
        </p:nvSpPr>
        <p:spPr>
          <a:xfrm>
            <a:off x="6510528" y="3694176"/>
            <a:ext cx="5166360" cy="338554"/>
          </a:xfrm>
          <a:prstGeom prst="rect">
            <a:avLst/>
          </a:prstGeom>
          <a:noFill/>
        </p:spPr>
        <p:txBody>
          <a:bodyPr wrap="square">
            <a:spAutoFit/>
          </a:bodyPr>
          <a:lstStyle/>
          <a:p>
            <a:pPr algn="l"/>
            <a:r>
              <a:rPr sz="1600" b="1">
                <a:solidFill>
                  <a:srgbClr val="E8C56B"/>
                </a:solidFill>
                <a:latin typeface="Calibri"/>
              </a:rPr>
              <a:t>For 5G/4G</a:t>
            </a:r>
          </a:p>
        </p:txBody>
      </p:sp>
      <p:sp>
        <p:nvSpPr>
          <p:cNvPr id="18" name="TextBox 17"/>
          <p:cNvSpPr txBox="1"/>
          <p:nvPr/>
        </p:nvSpPr>
        <p:spPr>
          <a:xfrm>
            <a:off x="6510528" y="4005072"/>
            <a:ext cx="5166360" cy="584775"/>
          </a:xfrm>
          <a:prstGeom prst="rect">
            <a:avLst/>
          </a:prstGeom>
          <a:noFill/>
        </p:spPr>
        <p:txBody>
          <a:bodyPr wrap="square">
            <a:spAutoFit/>
          </a:bodyPr>
          <a:lstStyle/>
          <a:p>
            <a:pPr algn="l"/>
            <a:r>
              <a:rPr sz="1600" b="0">
                <a:solidFill>
                  <a:srgbClr val="F8FAFC"/>
                </a:solidFill>
                <a:latin typeface="Calibri"/>
              </a:rPr>
              <a:t>Number Verification works because the phone is on the operator network — not because we sent another SMS.</a:t>
            </a:r>
          </a:p>
        </p:txBody>
      </p:sp>
      <p:sp>
        <p:nvSpPr>
          <p:cNvPr id="19" name="TextBox 18"/>
          <p:cNvSpPr txBox="1"/>
          <p:nvPr/>
        </p:nvSpPr>
        <p:spPr>
          <a:xfrm>
            <a:off x="502920" y="5623560"/>
            <a:ext cx="11155680" cy="502920"/>
          </a:xfrm>
          <a:prstGeom prst="rect">
            <a:avLst/>
          </a:prstGeom>
          <a:noFill/>
        </p:spPr>
        <p:txBody>
          <a:bodyPr wrap="square">
            <a:spAutoFit/>
          </a:bodyPr>
          <a:lstStyle/>
          <a:p>
            <a:pPr algn="l"/>
            <a:r>
              <a:rPr sz="1300" b="1">
                <a:solidFill>
                  <a:srgbClr val="E8C56B"/>
                </a:solidFill>
                <a:latin typeface="Calibri"/>
              </a:rPr>
              <a:t>Target outcome: Top 3 → showcase at MWC Doha 2026 (8–10 Nov) · prizes up to $10,000</a:t>
            </a:r>
          </a:p>
        </p:txBody>
      </p:sp>
      <p:sp>
        <p:nvSpPr>
          <p:cNvPr id="20" name="TextBox 19"/>
          <p:cNvSpPr txBox="1"/>
          <p:nvPr/>
        </p:nvSpPr>
        <p:spPr>
          <a:xfrm>
            <a:off x="457200" y="6510528"/>
            <a:ext cx="8229600" cy="256032"/>
          </a:xfrm>
          <a:prstGeom prst="rect">
            <a:avLst/>
          </a:prstGeom>
          <a:noFill/>
        </p:spPr>
        <p:txBody>
          <a:bodyPr wrap="square">
            <a:spAutoFit/>
          </a:bodyPr>
          <a:lstStyle/>
          <a:p>
            <a:pPr algn="l"/>
            <a:r>
              <a:rPr sz="1000" b="0">
                <a:solidFill>
                  <a:srgbClr val="94A3B8"/>
                </a:solidFill>
                <a:latin typeface="Calibri"/>
              </a:rPr>
              <a:t>Smart Profits  ·  GSMA MENA Ignite  ·  Theme 4  ·  Nokia Network-as-Code</a:t>
            </a:r>
          </a:p>
        </p:txBody>
      </p:sp>
      <p:sp>
        <p:nvSpPr>
          <p:cNvPr id="21" name="TextBox 20"/>
          <p:cNvSpPr txBox="1"/>
          <p:nvPr/>
        </p:nvSpPr>
        <p:spPr>
          <a:xfrm>
            <a:off x="10424160" y="6510528"/>
            <a:ext cx="1280160" cy="256032"/>
          </a:xfrm>
          <a:prstGeom prst="rect">
            <a:avLst/>
          </a:prstGeom>
          <a:noFill/>
        </p:spPr>
        <p:txBody>
          <a:bodyPr wrap="square">
            <a:spAutoFit/>
          </a:bodyPr>
          <a:lstStyle/>
          <a:p>
            <a:pPr algn="r"/>
            <a:r>
              <a:rPr sz="1000" b="0">
                <a:solidFill>
                  <a:srgbClr val="94A3B8"/>
                </a:solidFill>
                <a:latin typeface="Calibri"/>
              </a:rPr>
              <a:t>16 / 19</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56032"/>
            <a:ext cx="10972800" cy="292608"/>
          </a:xfrm>
          <a:prstGeom prst="rect">
            <a:avLst/>
          </a:prstGeom>
          <a:noFill/>
        </p:spPr>
        <p:txBody>
          <a:bodyPr wrap="square">
            <a:spAutoFit/>
          </a:bodyPr>
          <a:lstStyle/>
          <a:p>
            <a:pPr algn="l"/>
            <a:r>
              <a:rPr sz="1100" b="1">
                <a:solidFill>
                  <a:srgbClr val="4FD1C5"/>
                </a:solidFill>
                <a:latin typeface="Calibri"/>
              </a:rPr>
              <a:t>14. ROADMAP</a:t>
            </a:r>
          </a:p>
        </p:txBody>
      </p:sp>
      <p:sp>
        <p:nvSpPr>
          <p:cNvPr id="6" name="TextBox 5"/>
          <p:cNvSpPr txBox="1"/>
          <p:nvPr/>
        </p:nvSpPr>
        <p:spPr>
          <a:xfrm>
            <a:off x="502920" y="530352"/>
            <a:ext cx="11155680" cy="594360"/>
          </a:xfrm>
          <a:prstGeom prst="rect">
            <a:avLst/>
          </a:prstGeom>
          <a:noFill/>
        </p:spPr>
        <p:txBody>
          <a:bodyPr wrap="square">
            <a:spAutoFit/>
          </a:bodyPr>
          <a:lstStyle/>
          <a:p>
            <a:pPr algn="l"/>
            <a:r>
              <a:rPr sz="2600" b="1">
                <a:solidFill>
                  <a:srgbClr val="F8FAFC"/>
                </a:solidFill>
                <a:latin typeface="Calibri"/>
              </a:rPr>
              <a:t>From hackathon prototype to MENA commercial product</a:t>
            </a:r>
          </a:p>
        </p:txBody>
      </p:sp>
      <p:sp>
        <p:nvSpPr>
          <p:cNvPr id="7" name="Rounded Rectangle 6"/>
          <p:cNvSpPr/>
          <p:nvPr/>
        </p:nvSpPr>
        <p:spPr>
          <a:xfrm>
            <a:off x="457200" y="1298448"/>
            <a:ext cx="11247120" cy="932688"/>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8" name="TextBox 7"/>
          <p:cNvSpPr txBox="1"/>
          <p:nvPr/>
        </p:nvSpPr>
        <p:spPr>
          <a:xfrm>
            <a:off x="685800" y="1389888"/>
            <a:ext cx="2926080" cy="307777"/>
          </a:xfrm>
          <a:prstGeom prst="rect">
            <a:avLst/>
          </a:prstGeom>
          <a:noFill/>
        </p:spPr>
        <p:txBody>
          <a:bodyPr wrap="square">
            <a:spAutoFit/>
          </a:bodyPr>
          <a:lstStyle/>
          <a:p>
            <a:pPr algn="l"/>
            <a:r>
              <a:rPr sz="1400" b="1">
                <a:solidFill>
                  <a:srgbClr val="4FD1C5"/>
                </a:solidFill>
                <a:latin typeface="Calibri"/>
              </a:rPr>
              <a:t>Now — Hackathon</a:t>
            </a:r>
          </a:p>
        </p:txBody>
      </p:sp>
      <p:sp>
        <p:nvSpPr>
          <p:cNvPr id="9" name="TextBox 8"/>
          <p:cNvSpPr txBox="1"/>
          <p:nvPr/>
        </p:nvSpPr>
        <p:spPr>
          <a:xfrm>
            <a:off x="3200400" y="1408176"/>
            <a:ext cx="8412480" cy="307777"/>
          </a:xfrm>
          <a:prstGeom prst="rect">
            <a:avLst/>
          </a:prstGeom>
          <a:noFill/>
        </p:spPr>
        <p:txBody>
          <a:bodyPr wrap="square">
            <a:spAutoFit/>
          </a:bodyPr>
          <a:lstStyle/>
          <a:p>
            <a:pPr algn="l"/>
            <a:r>
              <a:rPr sz="1400" b="0">
                <a:solidFill>
                  <a:srgbClr val="F8FAFC"/>
                </a:solidFill>
                <a:latin typeface="Calibri"/>
              </a:rPr>
              <a:t>Live NaC · demo video · deploy public URL · pitch + GitHub README for judges.</a:t>
            </a:r>
          </a:p>
        </p:txBody>
      </p:sp>
      <p:sp>
        <p:nvSpPr>
          <p:cNvPr id="10" name="Rounded Rectangle 9"/>
          <p:cNvSpPr/>
          <p:nvPr/>
        </p:nvSpPr>
        <p:spPr>
          <a:xfrm>
            <a:off x="457200" y="2377440"/>
            <a:ext cx="11247120" cy="932688"/>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 name="TextBox 10"/>
          <p:cNvSpPr txBox="1"/>
          <p:nvPr/>
        </p:nvSpPr>
        <p:spPr>
          <a:xfrm>
            <a:off x="685800" y="2468880"/>
            <a:ext cx="2926080" cy="307777"/>
          </a:xfrm>
          <a:prstGeom prst="rect">
            <a:avLst/>
          </a:prstGeom>
          <a:noFill/>
        </p:spPr>
        <p:txBody>
          <a:bodyPr wrap="square">
            <a:spAutoFit/>
          </a:bodyPr>
          <a:lstStyle/>
          <a:p>
            <a:pPr algn="l"/>
            <a:r>
              <a:rPr sz="1400" b="1">
                <a:solidFill>
                  <a:srgbClr val="4FD1C5"/>
                </a:solidFill>
                <a:latin typeface="Calibri"/>
              </a:rPr>
              <a:t>Q4 2026</a:t>
            </a:r>
          </a:p>
        </p:txBody>
      </p:sp>
      <p:sp>
        <p:nvSpPr>
          <p:cNvPr id="12" name="TextBox 11"/>
          <p:cNvSpPr txBox="1"/>
          <p:nvPr/>
        </p:nvSpPr>
        <p:spPr>
          <a:xfrm>
            <a:off x="3200400" y="2487168"/>
            <a:ext cx="8412480" cy="307777"/>
          </a:xfrm>
          <a:prstGeom prst="rect">
            <a:avLst/>
          </a:prstGeom>
          <a:noFill/>
        </p:spPr>
        <p:txBody>
          <a:bodyPr wrap="square">
            <a:spAutoFit/>
          </a:bodyPr>
          <a:lstStyle/>
          <a:p>
            <a:pPr algn="l"/>
            <a:r>
              <a:rPr sz="1400" b="0">
                <a:solidFill>
                  <a:srgbClr val="F8FAFC"/>
                </a:solidFill>
                <a:latin typeface="Calibri"/>
              </a:rPr>
              <a:t>NV OAuth on live operators · operator pilot · admin guard analytics · Pro billing.</a:t>
            </a:r>
          </a:p>
        </p:txBody>
      </p:sp>
      <p:sp>
        <p:nvSpPr>
          <p:cNvPr id="13" name="Rounded Rectangle 12"/>
          <p:cNvSpPr/>
          <p:nvPr/>
        </p:nvSpPr>
        <p:spPr>
          <a:xfrm>
            <a:off x="457200" y="3456432"/>
            <a:ext cx="11247120" cy="932688"/>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4" name="TextBox 13"/>
          <p:cNvSpPr txBox="1"/>
          <p:nvPr/>
        </p:nvSpPr>
        <p:spPr>
          <a:xfrm>
            <a:off x="685800" y="3547872"/>
            <a:ext cx="2926080" cy="307777"/>
          </a:xfrm>
          <a:prstGeom prst="rect">
            <a:avLst/>
          </a:prstGeom>
          <a:noFill/>
        </p:spPr>
        <p:txBody>
          <a:bodyPr wrap="square">
            <a:spAutoFit/>
          </a:bodyPr>
          <a:lstStyle/>
          <a:p>
            <a:pPr algn="l"/>
            <a:r>
              <a:rPr sz="1400" b="1">
                <a:solidFill>
                  <a:srgbClr val="4FD1C5"/>
                </a:solidFill>
                <a:latin typeface="Calibri"/>
              </a:rPr>
              <a:t>2027</a:t>
            </a:r>
          </a:p>
        </p:txBody>
      </p:sp>
      <p:sp>
        <p:nvSpPr>
          <p:cNvPr id="15" name="TextBox 14"/>
          <p:cNvSpPr txBox="1"/>
          <p:nvPr/>
        </p:nvSpPr>
        <p:spPr>
          <a:xfrm>
            <a:off x="3200400" y="3566160"/>
            <a:ext cx="8412480" cy="307777"/>
          </a:xfrm>
          <a:prstGeom prst="rect">
            <a:avLst/>
          </a:prstGeom>
          <a:noFill/>
        </p:spPr>
        <p:txBody>
          <a:bodyPr wrap="square">
            <a:spAutoFit/>
          </a:bodyPr>
          <a:lstStyle/>
          <a:p>
            <a:pPr algn="l"/>
            <a:r>
              <a:rPr sz="1400" b="0">
                <a:solidFill>
                  <a:srgbClr val="F8FAFC"/>
                </a:solidFill>
                <a:latin typeface="Calibri"/>
              </a:rPr>
              <a:t>Multi-branch geofences · B2B2X with MENA telco · marketplace integrations.</a:t>
            </a:r>
          </a:p>
        </p:txBody>
      </p:sp>
      <p:sp>
        <p:nvSpPr>
          <p:cNvPr id="16" name="Rounded Rectangle 15"/>
          <p:cNvSpPr/>
          <p:nvPr/>
        </p:nvSpPr>
        <p:spPr>
          <a:xfrm>
            <a:off x="457200" y="4535424"/>
            <a:ext cx="11247120" cy="932688"/>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4626864"/>
            <a:ext cx="2926080" cy="307777"/>
          </a:xfrm>
          <a:prstGeom prst="rect">
            <a:avLst/>
          </a:prstGeom>
          <a:noFill/>
        </p:spPr>
        <p:txBody>
          <a:bodyPr wrap="square">
            <a:spAutoFit/>
          </a:bodyPr>
          <a:lstStyle/>
          <a:p>
            <a:pPr algn="l"/>
            <a:r>
              <a:rPr sz="1400" b="1">
                <a:solidFill>
                  <a:srgbClr val="4FD1C5"/>
                </a:solidFill>
                <a:latin typeface="Calibri"/>
              </a:rPr>
              <a:t>MWC Doha</a:t>
            </a:r>
          </a:p>
        </p:txBody>
      </p:sp>
      <p:sp>
        <p:nvSpPr>
          <p:cNvPr id="18" name="TextBox 17"/>
          <p:cNvSpPr txBox="1"/>
          <p:nvPr/>
        </p:nvSpPr>
        <p:spPr>
          <a:xfrm>
            <a:off x="3200400" y="4645152"/>
            <a:ext cx="8412480" cy="307777"/>
          </a:xfrm>
          <a:prstGeom prst="rect">
            <a:avLst/>
          </a:prstGeom>
          <a:noFill/>
        </p:spPr>
        <p:txBody>
          <a:bodyPr wrap="square">
            <a:spAutoFit/>
          </a:bodyPr>
          <a:lstStyle/>
          <a:p>
            <a:pPr algn="l"/>
            <a:r>
              <a:rPr sz="1400" b="0" dirty="0">
                <a:solidFill>
                  <a:srgbClr val="F8FAFC"/>
                </a:solidFill>
                <a:latin typeface="Calibri"/>
              </a:rPr>
              <a:t>Live freeze demo on stage · executive pitch · operator meetings.</a:t>
            </a:r>
          </a:p>
        </p:txBody>
      </p:sp>
      <p:sp>
        <p:nvSpPr>
          <p:cNvPr id="19" name="TextBox 18"/>
          <p:cNvSpPr txBox="1"/>
          <p:nvPr/>
        </p:nvSpPr>
        <p:spPr>
          <a:xfrm>
            <a:off x="457200" y="6510528"/>
            <a:ext cx="8229600" cy="256032"/>
          </a:xfrm>
          <a:prstGeom prst="rect">
            <a:avLst/>
          </a:prstGeom>
          <a:noFill/>
        </p:spPr>
        <p:txBody>
          <a:bodyPr wrap="square">
            <a:spAutoFit/>
          </a:bodyPr>
          <a:lstStyle/>
          <a:p>
            <a:pPr algn="l"/>
            <a:r>
              <a:rPr sz="1000" b="0">
                <a:solidFill>
                  <a:srgbClr val="94A3B8"/>
                </a:solidFill>
                <a:latin typeface="Calibri"/>
              </a:rPr>
              <a:t>Smart Profits  ·  GSMA MENA Ignite  ·  Theme 4  ·  Nokia Network-as-Code</a:t>
            </a:r>
          </a:p>
        </p:txBody>
      </p:sp>
      <p:sp>
        <p:nvSpPr>
          <p:cNvPr id="20" name="TextBox 19"/>
          <p:cNvSpPr txBox="1"/>
          <p:nvPr/>
        </p:nvSpPr>
        <p:spPr>
          <a:xfrm>
            <a:off x="10424160" y="6510528"/>
            <a:ext cx="1280160" cy="256032"/>
          </a:xfrm>
          <a:prstGeom prst="rect">
            <a:avLst/>
          </a:prstGeom>
          <a:noFill/>
        </p:spPr>
        <p:txBody>
          <a:bodyPr wrap="square">
            <a:spAutoFit/>
          </a:bodyPr>
          <a:lstStyle/>
          <a:p>
            <a:pPr algn="r"/>
            <a:r>
              <a:rPr sz="1000" b="0">
                <a:solidFill>
                  <a:srgbClr val="94A3B8"/>
                </a:solidFill>
                <a:latin typeface="Calibri"/>
              </a:rPr>
              <a:t>17 / 19</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
            <a:ext cx="12191695" cy="13716"/>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256032"/>
            <a:ext cx="10972800" cy="292608"/>
          </a:xfrm>
          <a:prstGeom prst="rect">
            <a:avLst/>
          </a:prstGeom>
          <a:noFill/>
        </p:spPr>
        <p:txBody>
          <a:bodyPr wrap="square">
            <a:spAutoFit/>
          </a:bodyPr>
          <a:lstStyle/>
          <a:p>
            <a:pPr algn="l"/>
            <a:r>
              <a:rPr sz="1100" b="1">
                <a:solidFill>
                  <a:srgbClr val="4FD1C5"/>
                </a:solidFill>
                <a:latin typeface="Calibri"/>
              </a:rPr>
              <a:t>15. TEAM</a:t>
            </a:r>
          </a:p>
        </p:txBody>
      </p:sp>
      <p:sp>
        <p:nvSpPr>
          <p:cNvPr id="6" name="TextBox 5"/>
          <p:cNvSpPr txBox="1"/>
          <p:nvPr/>
        </p:nvSpPr>
        <p:spPr>
          <a:xfrm>
            <a:off x="502920" y="530352"/>
            <a:ext cx="11155680" cy="594360"/>
          </a:xfrm>
          <a:prstGeom prst="rect">
            <a:avLst/>
          </a:prstGeom>
          <a:noFill/>
        </p:spPr>
        <p:txBody>
          <a:bodyPr wrap="square">
            <a:spAutoFit/>
          </a:bodyPr>
          <a:lstStyle/>
          <a:p>
            <a:pPr algn="l"/>
            <a:r>
              <a:rPr sz="2600" b="1">
                <a:solidFill>
                  <a:srgbClr val="F8FAFC"/>
                </a:solidFill>
                <a:latin typeface="Calibri"/>
              </a:rPr>
              <a:t>Gaza product inside a shipping software studio</a:t>
            </a:r>
          </a:p>
        </p:txBody>
      </p:sp>
      <p:sp>
        <p:nvSpPr>
          <p:cNvPr id="7" name="Rounded Rectangle 6"/>
          <p:cNvSpPr/>
          <p:nvPr/>
        </p:nvSpPr>
        <p:spPr>
          <a:xfrm>
            <a:off x="457200" y="1298448"/>
            <a:ext cx="5532120" cy="356616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8" name="TextBox 7"/>
          <p:cNvSpPr txBox="1"/>
          <p:nvPr/>
        </p:nvSpPr>
        <p:spPr>
          <a:xfrm>
            <a:off x="658368" y="1426464"/>
            <a:ext cx="5166360" cy="310896"/>
          </a:xfrm>
          <a:prstGeom prst="rect">
            <a:avLst/>
          </a:prstGeom>
          <a:noFill/>
        </p:spPr>
        <p:txBody>
          <a:bodyPr wrap="square">
            <a:spAutoFit/>
          </a:bodyPr>
          <a:lstStyle/>
          <a:p>
            <a:pPr algn="l"/>
            <a:r>
              <a:rPr sz="1400" b="1">
                <a:solidFill>
                  <a:srgbClr val="E8C56B"/>
                </a:solidFill>
                <a:latin typeface="Calibri"/>
              </a:rPr>
              <a:t>Israa Nael Hamad — Founder / Product Lead</a:t>
            </a:r>
          </a:p>
        </p:txBody>
      </p:sp>
      <p:sp>
        <p:nvSpPr>
          <p:cNvPr id="9" name="TextBox 8"/>
          <p:cNvSpPr txBox="1"/>
          <p:nvPr/>
        </p:nvSpPr>
        <p:spPr>
          <a:xfrm>
            <a:off x="658368" y="1737360"/>
            <a:ext cx="5166360" cy="1600438"/>
          </a:xfrm>
          <a:prstGeom prst="rect">
            <a:avLst/>
          </a:prstGeom>
          <a:noFill/>
        </p:spPr>
        <p:txBody>
          <a:bodyPr wrap="square">
            <a:spAutoFit/>
          </a:bodyPr>
          <a:lstStyle/>
          <a:p>
            <a:pPr algn="l"/>
            <a:r>
              <a:rPr sz="1400" b="0">
                <a:solidFill>
                  <a:srgbClr val="F8FAFC"/>
                </a:solidFill>
                <a:latin typeface="Calibri"/>
              </a:rPr>
              <a:t>University of Palestine, Gaza · Software Engineering (final year).
Product vision, merchant UX, bilingual FinTech experience, Theme 4 narrative: phantom Excel profit vs SIM-swap takeover of the same files.
Email: tsraathmd@gmail.com</a:t>
            </a:r>
          </a:p>
        </p:txBody>
      </p:sp>
      <p:sp>
        <p:nvSpPr>
          <p:cNvPr id="10" name="Rounded Rectangle 9"/>
          <p:cNvSpPr/>
          <p:nvPr/>
        </p:nvSpPr>
        <p:spPr>
          <a:xfrm>
            <a:off x="6172200" y="1298448"/>
            <a:ext cx="5532120" cy="356616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 name="TextBox 10"/>
          <p:cNvSpPr txBox="1"/>
          <p:nvPr/>
        </p:nvSpPr>
        <p:spPr>
          <a:xfrm>
            <a:off x="6373368" y="1426464"/>
            <a:ext cx="5166360" cy="310896"/>
          </a:xfrm>
          <a:prstGeom prst="rect">
            <a:avLst/>
          </a:prstGeom>
          <a:noFill/>
        </p:spPr>
        <p:txBody>
          <a:bodyPr wrap="square">
            <a:spAutoFit/>
          </a:bodyPr>
          <a:lstStyle/>
          <a:p>
            <a:pPr algn="l"/>
            <a:r>
              <a:rPr sz="1400" b="1">
                <a:solidFill>
                  <a:srgbClr val="E8C56B"/>
                </a:solidFill>
                <a:latin typeface="Calibri"/>
              </a:rPr>
              <a:t>Mir Kashif — Principal / Technical Co-Founder</a:t>
            </a:r>
          </a:p>
        </p:txBody>
      </p:sp>
      <p:sp>
        <p:nvSpPr>
          <p:cNvPr id="12" name="TextBox 11"/>
          <p:cNvSpPr txBox="1"/>
          <p:nvPr/>
        </p:nvSpPr>
        <p:spPr>
          <a:xfrm>
            <a:off x="6373368" y="1737360"/>
            <a:ext cx="5166360" cy="1600438"/>
          </a:xfrm>
          <a:prstGeom prst="rect">
            <a:avLst/>
          </a:prstGeom>
          <a:noFill/>
        </p:spPr>
        <p:txBody>
          <a:bodyPr wrap="square">
            <a:spAutoFit/>
          </a:bodyPr>
          <a:lstStyle/>
          <a:p>
            <a:pPr algn="l"/>
            <a:r>
              <a:rPr sz="1400" b="0">
                <a:solidFill>
                  <a:srgbClr val="F8FAFC"/>
                </a:solidFill>
                <a:latin typeface="Calibri"/>
              </a:rPr>
              <a:t>Bitsandbytesdude Software Agency.
Full-stack platforms, AI agent workflows, cloud delivery. Next.js architecture, Nokia NaC integration, Smart Guard enforcement.
Studio: bitsandbytesdude@gmail.com · https://bitsandbytesdude.vercel.app/</a:t>
            </a:r>
          </a:p>
        </p:txBody>
      </p:sp>
      <p:sp>
        <p:nvSpPr>
          <p:cNvPr id="13" name="Rounded Rectangle 12"/>
          <p:cNvSpPr/>
          <p:nvPr/>
        </p:nvSpPr>
        <p:spPr>
          <a:xfrm>
            <a:off x="457200" y="5029200"/>
            <a:ext cx="11247120" cy="1051560"/>
          </a:xfrm>
          <a:prstGeom prst="roundRect">
            <a:avLst>
              <a:gd name="adj" fmla="val 8000"/>
            </a:avLst>
          </a:prstGeom>
          <a:solidFill>
            <a:srgbClr val="1621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5166360"/>
            <a:ext cx="10972800" cy="777240"/>
          </a:xfrm>
          <a:prstGeom prst="rect">
            <a:avLst/>
          </a:prstGeom>
          <a:noFill/>
        </p:spPr>
        <p:txBody>
          <a:bodyPr wrap="square">
            <a:spAutoFit/>
          </a:bodyPr>
          <a:lstStyle/>
          <a:p>
            <a:pPr algn="l"/>
            <a:r>
              <a:rPr sz="1300" b="0">
                <a:solidFill>
                  <a:srgbClr val="F8FAFC"/>
                </a:solidFill>
                <a:latin typeface="Calibri"/>
              </a:rPr>
              <a:t>Bitsandbytesdude — high-performance software, AI automation and product systems.
Remote-first · MENA-rooted · Smart Profits is a core product line, not a side project.</a:t>
            </a:r>
          </a:p>
        </p:txBody>
      </p:sp>
      <p:sp>
        <p:nvSpPr>
          <p:cNvPr id="15" name="TextBox 14"/>
          <p:cNvSpPr txBox="1"/>
          <p:nvPr/>
        </p:nvSpPr>
        <p:spPr>
          <a:xfrm>
            <a:off x="457200" y="6510528"/>
            <a:ext cx="8229600" cy="256032"/>
          </a:xfrm>
          <a:prstGeom prst="rect">
            <a:avLst/>
          </a:prstGeom>
          <a:noFill/>
        </p:spPr>
        <p:txBody>
          <a:bodyPr wrap="square">
            <a:spAutoFit/>
          </a:bodyPr>
          <a:lstStyle/>
          <a:p>
            <a:pPr algn="l"/>
            <a:r>
              <a:rPr sz="1000" b="0">
                <a:solidFill>
                  <a:srgbClr val="94A3B8"/>
                </a:solidFill>
                <a:latin typeface="Calibri"/>
              </a:rPr>
              <a:t>Smart Profits  ·  GSMA MENA Ignite  ·  Theme 4  ·  Nokia Network-as-Code</a:t>
            </a:r>
          </a:p>
        </p:txBody>
      </p:sp>
      <p:sp>
        <p:nvSpPr>
          <p:cNvPr id="16" name="TextBox 15"/>
          <p:cNvSpPr txBox="1"/>
          <p:nvPr/>
        </p:nvSpPr>
        <p:spPr>
          <a:xfrm>
            <a:off x="10424160" y="6510528"/>
            <a:ext cx="1280160" cy="256032"/>
          </a:xfrm>
          <a:prstGeom prst="rect">
            <a:avLst/>
          </a:prstGeom>
          <a:noFill/>
        </p:spPr>
        <p:txBody>
          <a:bodyPr wrap="square">
            <a:spAutoFit/>
          </a:bodyPr>
          <a:lstStyle/>
          <a:p>
            <a:pPr algn="r"/>
            <a:r>
              <a:rPr sz="1000" b="0">
                <a:solidFill>
                  <a:srgbClr val="94A3B8"/>
                </a:solidFill>
                <a:latin typeface="Calibri"/>
              </a:rPr>
              <a:t>18 / 19</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73152"/>
          </a:xfrm>
          <a:prstGeom prst="rect">
            <a:avLst/>
          </a:prstGeom>
          <a:solidFill>
            <a:srgbClr val="4FD1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73152"/>
            <a:ext cx="12191695" cy="18288"/>
          </a:xfrm>
          <a:prstGeom prst="rect">
            <a:avLst/>
          </a:prstGeom>
          <a:solidFill>
            <a:srgbClr val="E8C5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417320"/>
            <a:ext cx="10972800" cy="320040"/>
          </a:xfrm>
          <a:prstGeom prst="rect">
            <a:avLst/>
          </a:prstGeom>
          <a:noFill/>
        </p:spPr>
        <p:txBody>
          <a:bodyPr wrap="square">
            <a:spAutoFit/>
          </a:bodyPr>
          <a:lstStyle/>
          <a:p>
            <a:pPr algn="l"/>
            <a:r>
              <a:rPr sz="1400" b="1">
                <a:solidFill>
                  <a:srgbClr val="4FD1C5"/>
                </a:solidFill>
                <a:latin typeface="Calibri"/>
              </a:rPr>
              <a:t>THE ASK</a:t>
            </a:r>
          </a:p>
        </p:txBody>
      </p:sp>
      <p:sp>
        <p:nvSpPr>
          <p:cNvPr id="6" name="TextBox 5"/>
          <p:cNvSpPr txBox="1"/>
          <p:nvPr/>
        </p:nvSpPr>
        <p:spPr>
          <a:xfrm>
            <a:off x="502920" y="1828800"/>
            <a:ext cx="11155680" cy="1005840"/>
          </a:xfrm>
          <a:prstGeom prst="rect">
            <a:avLst/>
          </a:prstGeom>
          <a:noFill/>
        </p:spPr>
        <p:txBody>
          <a:bodyPr wrap="square">
            <a:spAutoFit/>
          </a:bodyPr>
          <a:lstStyle/>
          <a:p>
            <a:pPr algn="l"/>
            <a:r>
              <a:rPr sz="3800" b="1">
                <a:solidFill>
                  <a:srgbClr val="F8FAFC"/>
                </a:solidFill>
                <a:latin typeface="Calibri"/>
              </a:rPr>
              <a:t>Advance Smart Profits under Theme 4.</a:t>
            </a:r>
          </a:p>
        </p:txBody>
      </p:sp>
      <p:sp>
        <p:nvSpPr>
          <p:cNvPr id="7" name="TextBox 6"/>
          <p:cNvSpPr txBox="1"/>
          <p:nvPr/>
        </p:nvSpPr>
        <p:spPr>
          <a:xfrm>
            <a:off x="502920" y="2971800"/>
            <a:ext cx="10972800" cy="1371600"/>
          </a:xfrm>
          <a:prstGeom prst="rect">
            <a:avLst/>
          </a:prstGeom>
          <a:noFill/>
        </p:spPr>
        <p:txBody>
          <a:bodyPr wrap="square">
            <a:spAutoFit/>
          </a:bodyPr>
          <a:lstStyle/>
          <a:p>
            <a:pPr algn="l">
              <a:spcAft>
                <a:spcPts val="600"/>
              </a:spcAft>
            </a:pPr>
            <a:r>
              <a:rPr sz="1500" b="0">
                <a:solidFill>
                  <a:srgbClr val="F8FAFC"/>
                </a:solidFill>
                <a:latin typeface="Calibri"/>
              </a:rPr>
              <a:t>• A real merchant SaaS — not slideware.</a:t>
            </a:r>
          </a:p>
          <a:p>
            <a:pPr algn="l">
              <a:spcAft>
                <a:spcPts val="600"/>
              </a:spcAft>
            </a:pPr>
            <a:r>
              <a:rPr sz="1500" b="0">
                <a:solidFill>
                  <a:srgbClr val="F8FAFC"/>
                </a:solidFill>
                <a:latin typeface="Calibri"/>
              </a:rPr>
              <a:t>• A real AI Agent — fuses network risk WITH financial sensitivity (Allow / Step-up / Freeze).</a:t>
            </a:r>
          </a:p>
          <a:p>
            <a:pPr algn="l">
              <a:spcAft>
                <a:spcPts val="600"/>
              </a:spcAft>
            </a:pPr>
            <a:r>
              <a:rPr sz="1500" b="0">
                <a:solidFill>
                  <a:srgbClr val="F8FAFC"/>
                </a:solidFill>
                <a:latin typeface="Calibri"/>
              </a:rPr>
              <a:t>• Silent Authentication on the clean path — Freeze only when SIM swap is real.</a:t>
            </a:r>
          </a:p>
          <a:p>
            <a:pPr algn="l">
              <a:spcAft>
                <a:spcPts val="600"/>
              </a:spcAft>
            </a:pPr>
            <a:r>
              <a:rPr sz="1500" b="0">
                <a:solidFill>
                  <a:srgbClr val="F8FAFC"/>
                </a:solidFill>
                <a:latin typeface="Calibri"/>
              </a:rPr>
              <a:t>• Real CAMARA APIs via Nokia NaC — continuous operator API revenue (B2B2X).</a:t>
            </a:r>
          </a:p>
        </p:txBody>
      </p:sp>
      <p:sp>
        <p:nvSpPr>
          <p:cNvPr id="8" name="Rounded Rectangle 7"/>
          <p:cNvSpPr/>
          <p:nvPr/>
        </p:nvSpPr>
        <p:spPr>
          <a:xfrm>
            <a:off x="457200" y="4572000"/>
            <a:ext cx="2702052" cy="384048"/>
          </a:xfrm>
          <a:prstGeom prst="roundRect">
            <a:avLst>
              <a:gd name="adj" fmla="val 8000"/>
            </a:avLst>
          </a:prstGeom>
          <a:solidFill>
            <a:srgbClr val="14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4608576"/>
            <a:ext cx="2702052" cy="329184"/>
          </a:xfrm>
          <a:prstGeom prst="rect">
            <a:avLst/>
          </a:prstGeom>
          <a:noFill/>
        </p:spPr>
        <p:txBody>
          <a:bodyPr wrap="square">
            <a:spAutoFit/>
          </a:bodyPr>
          <a:lstStyle/>
          <a:p>
            <a:pPr algn="ctr"/>
            <a:r>
              <a:rPr sz="1100" b="1">
                <a:solidFill>
                  <a:srgbClr val="4FD1C5"/>
                </a:solidFill>
                <a:latin typeface="Calibri"/>
              </a:rPr>
              <a:t>✓ CAMARA via Nokia NaC</a:t>
            </a:r>
          </a:p>
        </p:txBody>
      </p:sp>
      <p:sp>
        <p:nvSpPr>
          <p:cNvPr id="10" name="Rounded Rectangle 9"/>
          <p:cNvSpPr/>
          <p:nvPr/>
        </p:nvSpPr>
        <p:spPr>
          <a:xfrm>
            <a:off x="3268980" y="4572000"/>
            <a:ext cx="2702052" cy="384048"/>
          </a:xfrm>
          <a:prstGeom prst="roundRect">
            <a:avLst>
              <a:gd name="adj" fmla="val 8000"/>
            </a:avLst>
          </a:prstGeom>
          <a:solidFill>
            <a:srgbClr val="14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68980" y="4608576"/>
            <a:ext cx="2702052" cy="329184"/>
          </a:xfrm>
          <a:prstGeom prst="rect">
            <a:avLst/>
          </a:prstGeom>
          <a:noFill/>
        </p:spPr>
        <p:txBody>
          <a:bodyPr wrap="square">
            <a:spAutoFit/>
          </a:bodyPr>
          <a:lstStyle/>
          <a:p>
            <a:pPr algn="ctr"/>
            <a:r>
              <a:rPr sz="1100" b="1">
                <a:solidFill>
                  <a:srgbClr val="4FD1C5"/>
                </a:solidFill>
                <a:latin typeface="Calibri"/>
              </a:rPr>
              <a:t>✓ AI Agent orchestration</a:t>
            </a:r>
          </a:p>
        </p:txBody>
      </p:sp>
      <p:sp>
        <p:nvSpPr>
          <p:cNvPr id="12" name="Rounded Rectangle 11"/>
          <p:cNvSpPr/>
          <p:nvPr/>
        </p:nvSpPr>
        <p:spPr>
          <a:xfrm>
            <a:off x="6080760" y="4572000"/>
            <a:ext cx="2702052" cy="384048"/>
          </a:xfrm>
          <a:prstGeom prst="roundRect">
            <a:avLst>
              <a:gd name="adj" fmla="val 8000"/>
            </a:avLst>
          </a:prstGeom>
          <a:solidFill>
            <a:srgbClr val="14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080760" y="4608576"/>
            <a:ext cx="2702052" cy="329184"/>
          </a:xfrm>
          <a:prstGeom prst="rect">
            <a:avLst/>
          </a:prstGeom>
          <a:noFill/>
        </p:spPr>
        <p:txBody>
          <a:bodyPr wrap="square">
            <a:spAutoFit/>
          </a:bodyPr>
          <a:lstStyle/>
          <a:p>
            <a:pPr algn="ctr"/>
            <a:r>
              <a:rPr sz="1100" b="1">
                <a:solidFill>
                  <a:srgbClr val="4FD1C5"/>
                </a:solidFill>
                <a:latin typeface="Calibri"/>
              </a:rPr>
              <a:t>✓ Theme 4 FinTech</a:t>
            </a:r>
          </a:p>
        </p:txBody>
      </p:sp>
      <p:sp>
        <p:nvSpPr>
          <p:cNvPr id="14" name="Rounded Rectangle 13"/>
          <p:cNvSpPr/>
          <p:nvPr/>
        </p:nvSpPr>
        <p:spPr>
          <a:xfrm>
            <a:off x="8892540" y="4572000"/>
            <a:ext cx="2702052" cy="384048"/>
          </a:xfrm>
          <a:prstGeom prst="roundRect">
            <a:avLst>
              <a:gd name="adj" fmla="val 8000"/>
            </a:avLst>
          </a:prstGeom>
          <a:solidFill>
            <a:srgbClr val="14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92540" y="4608576"/>
            <a:ext cx="2702052" cy="329184"/>
          </a:xfrm>
          <a:prstGeom prst="rect">
            <a:avLst/>
          </a:prstGeom>
          <a:noFill/>
        </p:spPr>
        <p:txBody>
          <a:bodyPr wrap="square">
            <a:spAutoFit/>
          </a:bodyPr>
          <a:lstStyle/>
          <a:p>
            <a:pPr algn="ctr"/>
            <a:r>
              <a:rPr sz="1100" b="1">
                <a:solidFill>
                  <a:srgbClr val="4FD1C5"/>
                </a:solidFill>
                <a:latin typeface="Calibri"/>
              </a:rPr>
              <a:t>✓ Live prototype</a:t>
            </a:r>
          </a:p>
        </p:txBody>
      </p:sp>
      <p:sp>
        <p:nvSpPr>
          <p:cNvPr id="16" name="TextBox 15"/>
          <p:cNvSpPr txBox="1"/>
          <p:nvPr/>
        </p:nvSpPr>
        <p:spPr>
          <a:xfrm>
            <a:off x="502920" y="5257800"/>
            <a:ext cx="10972800" cy="777240"/>
          </a:xfrm>
          <a:prstGeom prst="rect">
            <a:avLst/>
          </a:prstGeom>
          <a:noFill/>
        </p:spPr>
        <p:txBody>
          <a:bodyPr wrap="square">
            <a:spAutoFit/>
          </a:bodyPr>
          <a:lstStyle/>
          <a:p>
            <a:pPr algn="l"/>
            <a:r>
              <a:rPr sz="1500" b="0">
                <a:solidFill>
                  <a:srgbClr val="E8C56B"/>
                </a:solidFill>
                <a:latin typeface="Calibri"/>
              </a:rPr>
              <a:t>Thank you  ·  Questions?
Israa Nael Hamad  ·  Mir Kashif  ·  Bitsandbytesdude  ·  University of Palestine, Gaza</a:t>
            </a:r>
          </a:p>
        </p:txBody>
      </p:sp>
      <p:sp>
        <p:nvSpPr>
          <p:cNvPr id="17" name="TextBox 16"/>
          <p:cNvSpPr txBox="1"/>
          <p:nvPr/>
        </p:nvSpPr>
        <p:spPr>
          <a:xfrm>
            <a:off x="457200" y="6510528"/>
            <a:ext cx="8229600" cy="256032"/>
          </a:xfrm>
          <a:prstGeom prst="rect">
            <a:avLst/>
          </a:prstGeom>
          <a:noFill/>
        </p:spPr>
        <p:txBody>
          <a:bodyPr wrap="square">
            <a:spAutoFit/>
          </a:bodyPr>
          <a:lstStyle/>
          <a:p>
            <a:pPr algn="l"/>
            <a:r>
              <a:rPr sz="1000" b="0">
                <a:solidFill>
                  <a:srgbClr val="94A3B8"/>
                </a:solidFill>
                <a:latin typeface="Calibri"/>
              </a:rPr>
              <a:t>Smart Profits  ·  GSMA MENA Ignite  ·  Theme 4  ·  Nokia Network-as-Code</a:t>
            </a:r>
          </a:p>
        </p:txBody>
      </p:sp>
      <p:sp>
        <p:nvSpPr>
          <p:cNvPr id="18" name="TextBox 17"/>
          <p:cNvSpPr txBox="1"/>
          <p:nvPr/>
        </p:nvSpPr>
        <p:spPr>
          <a:xfrm>
            <a:off x="10424160" y="6510528"/>
            <a:ext cx="1280160" cy="256032"/>
          </a:xfrm>
          <a:prstGeom prst="rect">
            <a:avLst/>
          </a:prstGeom>
          <a:noFill/>
        </p:spPr>
        <p:txBody>
          <a:bodyPr wrap="square">
            <a:spAutoFit/>
          </a:bodyPr>
          <a:lstStyle/>
          <a:p>
            <a:pPr algn="r"/>
            <a:r>
              <a:rPr sz="1000" b="0">
                <a:solidFill>
                  <a:srgbClr val="94A3B8"/>
                </a:solidFill>
                <a:latin typeface="Calibri"/>
              </a:rPr>
              <a:t>19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TotalTime>
  <Words>2982</Words>
  <Application>Microsoft Office PowerPoint</Application>
  <PresentationFormat>شاشة عريضة</PresentationFormat>
  <Paragraphs>250</Paragraphs>
  <Slides>19</Slides>
  <Notes>0</Notes>
  <HiddenSlides>0</HiddenSlides>
  <MMClips>0</MMClips>
  <ScaleCrop>false</ScaleCrop>
  <HeadingPairs>
    <vt:vector size="6" baseType="variant">
      <vt:variant>
        <vt:lpstr>الخطوط المستخدمة</vt:lpstr>
      </vt:variant>
      <vt:variant>
        <vt:i4>2</vt:i4>
      </vt:variant>
      <vt:variant>
        <vt:lpstr>نسق</vt:lpstr>
      </vt:variant>
      <vt:variant>
        <vt:i4>1</vt:i4>
      </vt:variant>
      <vt:variant>
        <vt:lpstr>عناوين الشرائح</vt:lpstr>
      </vt:variant>
      <vt:variant>
        <vt:i4>19</vt:i4>
      </vt:variant>
    </vt:vector>
  </HeadingPairs>
  <TitlesOfParts>
    <vt:vector size="22" baseType="lpstr">
      <vt:lpstr>Arial</vt:lpstr>
      <vt:lpstr>Calibri</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تقديمي في PowerPoint</dc:title>
  <dc:subject/>
  <dc:creator/>
  <cp:keywords/>
  <dc:description>generated using python-pptx</dc:description>
  <cp:lastModifiedBy>IBRAHEM hamed</cp:lastModifiedBy>
  <cp:revision>2</cp:revision>
  <dcterms:created xsi:type="dcterms:W3CDTF">2013-01-27T09:14:16Z</dcterms:created>
  <dcterms:modified xsi:type="dcterms:W3CDTF">2026-09-05T10:27:22Z</dcterms:modified>
  <cp:category/>
</cp:coreProperties>
</file>